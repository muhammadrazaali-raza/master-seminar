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Play"/>
      <p:regular r:id="rId22"/>
      <p:bold r:id="rId23"/>
    </p:embeddedFont>
    <p:embeddedFont>
      <p:font typeface="Nunito"/>
      <p:regular r:id="rId24"/>
      <p:bold r:id="rId25"/>
      <p:italic r:id="rId26"/>
      <p:boldItalic r:id="rId27"/>
    </p:embeddedFont>
    <p:embeddedFont>
      <p:font typeface="Maven Pro"/>
      <p:regular r:id="rId28"/>
      <p:bold r:id="rId29"/>
    </p:embeddedFont>
    <p:embeddedFont>
      <p:font typeface="Urbanist"/>
      <p:regular r:id="rId30"/>
      <p:bold r:id="rId31"/>
      <p:italic r:id="rId32"/>
      <p:boldItalic r:id="rId33"/>
    </p:embeddedFont>
    <p:embeddedFont>
      <p:font typeface="Nunito Black"/>
      <p:bold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8A87781-F135-4FED-B73E-D678BC358122}">
  <a:tblStyle styleId="{98A87781-F135-4FED-B73E-D678BC35812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Play-regular.fntdata"/><Relationship Id="rId21" Type="http://schemas.openxmlformats.org/officeDocument/2006/relationships/slide" Target="slides/slide15.xml"/><Relationship Id="rId24" Type="http://schemas.openxmlformats.org/officeDocument/2006/relationships/font" Target="fonts/Nunito-regular.fntdata"/><Relationship Id="rId23" Type="http://schemas.openxmlformats.org/officeDocument/2006/relationships/font" Target="fonts/Play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Nunito-italic.fntdata"/><Relationship Id="rId25" Type="http://schemas.openxmlformats.org/officeDocument/2006/relationships/font" Target="fonts/Nunito-bold.fntdata"/><Relationship Id="rId28" Type="http://schemas.openxmlformats.org/officeDocument/2006/relationships/font" Target="fonts/MavenPro-regular.fntdata"/><Relationship Id="rId27" Type="http://schemas.openxmlformats.org/officeDocument/2006/relationships/font" Target="fonts/Nuni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MavenPr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Urbanist-bold.fntdata"/><Relationship Id="rId30" Type="http://schemas.openxmlformats.org/officeDocument/2006/relationships/font" Target="fonts/Urbanist-regular.fntdata"/><Relationship Id="rId11" Type="http://schemas.openxmlformats.org/officeDocument/2006/relationships/slide" Target="slides/slide5.xml"/><Relationship Id="rId33" Type="http://schemas.openxmlformats.org/officeDocument/2006/relationships/font" Target="fonts/Urbanist-boldItalic.fntdata"/><Relationship Id="rId10" Type="http://schemas.openxmlformats.org/officeDocument/2006/relationships/slide" Target="slides/slide4.xml"/><Relationship Id="rId32" Type="http://schemas.openxmlformats.org/officeDocument/2006/relationships/font" Target="fonts/Urbanist-italic.fntdata"/><Relationship Id="rId13" Type="http://schemas.openxmlformats.org/officeDocument/2006/relationships/slide" Target="slides/slide7.xml"/><Relationship Id="rId35" Type="http://schemas.openxmlformats.org/officeDocument/2006/relationships/font" Target="fonts/NunitoBlack-boldItalic.fntdata"/><Relationship Id="rId12" Type="http://schemas.openxmlformats.org/officeDocument/2006/relationships/slide" Target="slides/slide6.xml"/><Relationship Id="rId34" Type="http://schemas.openxmlformats.org/officeDocument/2006/relationships/font" Target="fonts/NunitoBlack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27ff1286e7_0_7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27ff1286e7_0_7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d82622b8eb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2d82622b8eb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2d82622b8eb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2d82622b8eb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b8d979355b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b8d979355b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ed8484b291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ed8484b291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ed8484b291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ed8484b291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ed8484b291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ed8484b291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ed8484b291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ed8484b291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ed8484b291_0_33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8" name="Google Shape;398;g3ed8484b291_0_335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the most critical slide. Spend ~2 minutes here. Emphasize why the combination of federated + parallel has not been addressed.</a:t>
            </a:r>
            <a:endParaRPr/>
          </a:p>
        </p:txBody>
      </p:sp>
      <p:sp>
        <p:nvSpPr>
          <p:cNvPr id="399" name="Google Shape;399;g3ed8484b291_0_335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ed8484b291_0_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3ed8484b291_0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2d82622b8eb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2d82622b8eb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2d82622b8eb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2d82622b8eb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ed8484b291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3ed8484b291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ed8484b291_0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ed8484b291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0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0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0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0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0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0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0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0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4"/>
          <p:cNvSpPr/>
          <p:nvPr/>
        </p:nvSpPr>
        <p:spPr>
          <a:xfrm>
            <a:off x="7161695" y="-1969230"/>
            <a:ext cx="4114800" cy="4114800"/>
          </a:xfrm>
          <a:prstGeom prst="ellipse">
            <a:avLst/>
          </a:prstGeom>
          <a:solidFill>
            <a:srgbClr val="1B6CA8">
              <a:alpha val="25099"/>
            </a:srgbClr>
          </a:solidFill>
          <a:ln cap="flat" cmpd="sng" w="12700">
            <a:solidFill>
              <a:srgbClr val="1B6CA8">
                <a:alpha val="250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4"/>
          <p:cNvSpPr/>
          <p:nvPr/>
        </p:nvSpPr>
        <p:spPr>
          <a:xfrm>
            <a:off x="8076095" y="-1237710"/>
            <a:ext cx="2560200" cy="2560200"/>
          </a:xfrm>
          <a:prstGeom prst="ellipse">
            <a:avLst/>
          </a:prstGeom>
          <a:solidFill>
            <a:srgbClr val="5BC4E5">
              <a:alpha val="20000"/>
            </a:srgbClr>
          </a:solidFill>
          <a:ln cap="flat" cmpd="sng" w="12700">
            <a:solidFill>
              <a:srgbClr val="5BC4E5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4"/>
          <p:cNvSpPr/>
          <p:nvPr/>
        </p:nvSpPr>
        <p:spPr>
          <a:xfrm>
            <a:off x="548640" y="2697480"/>
            <a:ext cx="1097400" cy="50400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4"/>
          <p:cNvSpPr/>
          <p:nvPr/>
        </p:nvSpPr>
        <p:spPr>
          <a:xfrm>
            <a:off x="548640" y="104835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C4E5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5BC4E5"/>
                </a:solidFill>
                <a:latin typeface="Calibri"/>
                <a:ea typeface="Calibri"/>
                <a:cs typeface="Calibri"/>
                <a:sym typeface="Calibri"/>
              </a:rPr>
              <a:t>MASTER SEMINAR PRESENTATION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4"/>
          <p:cNvSpPr/>
          <p:nvPr/>
        </p:nvSpPr>
        <p:spPr>
          <a:xfrm>
            <a:off x="548640" y="1325880"/>
            <a:ext cx="77724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Federated Discovery of</a:t>
            </a:r>
            <a:endParaRPr b="0" i="0" sz="4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4"/>
          <p:cNvSpPr/>
          <p:nvPr/>
        </p:nvSpPr>
        <p:spPr>
          <a:xfrm>
            <a:off x="548650" y="2029975"/>
            <a:ext cx="85530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C4E5"/>
              </a:buClr>
              <a:buSzPts val="4400"/>
              <a:buFont typeface="Calibri"/>
              <a:buNone/>
            </a:pPr>
            <a:r>
              <a:rPr b="1" i="0" lang="en" sz="4400" u="none" cap="none" strike="noStrike">
                <a:solidFill>
                  <a:srgbClr val="5BC4E5"/>
                </a:solidFill>
                <a:latin typeface="Calibri"/>
                <a:ea typeface="Calibri"/>
                <a:cs typeface="Calibri"/>
                <a:sym typeface="Calibri"/>
              </a:rPr>
              <a:t>Unique Column Combinations </a:t>
            </a:r>
            <a:r>
              <a:rPr b="1" i="0" lang="en" sz="2000" u="none" cap="none" strike="noStrike">
                <a:solidFill>
                  <a:srgbClr val="5BC4E5"/>
                </a:solidFill>
                <a:latin typeface="Calibri"/>
                <a:ea typeface="Calibri"/>
                <a:cs typeface="Calibri"/>
                <a:sym typeface="Calibri"/>
              </a:rPr>
              <a:t>(UCCs)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4"/>
          <p:cNvSpPr/>
          <p:nvPr/>
        </p:nvSpPr>
        <p:spPr>
          <a:xfrm>
            <a:off x="548640" y="2743200"/>
            <a:ext cx="7772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2800"/>
              <a:buFont typeface="Calibri"/>
              <a:buNone/>
            </a:pPr>
            <a:r>
              <a:rPr b="0" i="0" lang="en" sz="2800" u="none" cap="none" strike="noStrike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in Distributed Data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4"/>
          <p:cNvSpPr/>
          <p:nvPr/>
        </p:nvSpPr>
        <p:spPr>
          <a:xfrm>
            <a:off x="699748" y="4165250"/>
            <a:ext cx="6686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Student:</a:t>
            </a: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1"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Muhammad Raza Ali</a:t>
            </a:r>
            <a:r>
              <a:rPr b="0" i="0" lang="en" sz="1100" u="none" cap="none" strike="noStrike">
                <a:solidFill>
                  <a:srgbClr val="3A4A58"/>
                </a:solidFill>
                <a:latin typeface="Calibri"/>
                <a:ea typeface="Calibri"/>
                <a:cs typeface="Calibri"/>
                <a:sym typeface="Calibri"/>
              </a:rPr>
              <a:t>  |   </a:t>
            </a:r>
            <a:r>
              <a:rPr b="0" i="0" lang="en" sz="1100" u="none" cap="none" strike="noStrike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Supervisor:</a:t>
            </a: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Prof. Atakan Aral</a:t>
            </a:r>
            <a:r>
              <a:rPr b="0" i="0" lang="en" sz="1100" u="none" cap="none" strike="noStrike">
                <a:solidFill>
                  <a:srgbClr val="3A4A58"/>
                </a:solidFill>
                <a:latin typeface="Calibri"/>
                <a:ea typeface="Calibri"/>
                <a:cs typeface="Calibri"/>
                <a:sym typeface="Calibri"/>
              </a:rPr>
              <a:t>   |   </a:t>
            </a:r>
            <a:r>
              <a:rPr b="0" i="0" lang="en" sz="1100" u="none" cap="none" strike="noStrike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University of Vienna  ·  </a:t>
            </a:r>
            <a:r>
              <a:rPr lang="en" sz="110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r>
              <a:rPr b="0" i="0" lang="en" sz="1100" u="none" cap="none" strike="noStrike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 June 2026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000" y="2138450"/>
            <a:ext cx="8839199" cy="1635724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15"/>
          <p:cNvSpPr txBox="1"/>
          <p:nvPr/>
        </p:nvSpPr>
        <p:spPr>
          <a:xfrm>
            <a:off x="6982075" y="4779975"/>
            <a:ext cx="21618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2C363A"/>
                </a:solidFill>
                <a:highlight>
                  <a:srgbClr val="FFFFFF"/>
                </a:highlight>
              </a:rPr>
              <a:t>Figure by M. Schirneck.</a:t>
            </a:r>
            <a:endParaRPr b="1" sz="1300">
              <a:solidFill>
                <a:schemeClr val="dk2"/>
              </a:solidFill>
            </a:endParaRPr>
          </a:p>
        </p:txBody>
      </p:sp>
      <p:sp>
        <p:nvSpPr>
          <p:cNvPr id="292" name="Google Shape;292;p15"/>
          <p:cNvSpPr txBox="1"/>
          <p:nvPr>
            <p:ph type="title"/>
          </p:nvPr>
        </p:nvSpPr>
        <p:spPr>
          <a:xfrm>
            <a:off x="1263700" y="822175"/>
            <a:ext cx="7030500" cy="4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300">
                <a:latin typeface="Nunito"/>
                <a:ea typeface="Nunito"/>
                <a:cs typeface="Nunito"/>
                <a:sym typeface="Nunito"/>
              </a:rPr>
              <a:t>Unique Column Combination To Hitting sets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6"/>
          <p:cNvSpPr txBox="1"/>
          <p:nvPr>
            <p:ph type="title"/>
          </p:nvPr>
        </p:nvSpPr>
        <p:spPr>
          <a:xfrm>
            <a:off x="1617375" y="63675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UCC Discovery Difficult</a:t>
            </a:r>
            <a:endParaRPr/>
          </a:p>
        </p:txBody>
      </p:sp>
      <p:sp>
        <p:nvSpPr>
          <p:cNvPr id="298" name="Google Shape;298;p16"/>
          <p:cNvSpPr/>
          <p:nvPr/>
        </p:nvSpPr>
        <p:spPr>
          <a:xfrm>
            <a:off x="4155725" y="1343900"/>
            <a:ext cx="2401800" cy="179400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>
            <a:noFill/>
          </a:ln>
          <a:effectLst>
            <a:outerShdw blurRad="67194" rotWithShape="0" algn="bl" dir="2700000" dist="26878">
              <a:srgbClr val="000000">
                <a:alpha val="10199"/>
              </a:srgbClr>
            </a:outerShdw>
          </a:effectLst>
        </p:spPr>
        <p:txBody>
          <a:bodyPr anchorCtr="0" anchor="ctr" bIns="96750" lIns="96750" spcFirstLastPara="1" rIns="96750" wrap="square" tIns="9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9" name="Google Shape;29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15907" y="1518065"/>
            <a:ext cx="440308" cy="425738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16"/>
          <p:cNvSpPr/>
          <p:nvPr/>
        </p:nvSpPr>
        <p:spPr>
          <a:xfrm>
            <a:off x="4275810" y="2123000"/>
            <a:ext cx="21513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350" lIns="96750" spcFirstLastPara="1" rIns="96750" wrap="square" tIns="483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17"/>
              <a:buFont typeface="Calibri"/>
              <a:buNone/>
            </a:pPr>
            <a:r>
              <a:rPr b="1" i="0" lang="en" sz="1217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Exponential Space</a:t>
            </a:r>
            <a:endParaRPr b="0" i="0" sz="121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6"/>
          <p:cNvSpPr/>
          <p:nvPr/>
        </p:nvSpPr>
        <p:spPr>
          <a:xfrm>
            <a:off x="4275810" y="2471544"/>
            <a:ext cx="2151300" cy="63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350" lIns="96750" spcFirstLastPara="1" rIns="96750" wrap="square" tIns="483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11"/>
              <a:buFont typeface="Calibri"/>
              <a:buNone/>
            </a:pPr>
            <a:r>
              <a:rPr b="0" i="0" lang="en" sz="1211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2ⁿ − 1 subsets to examine; brute force is infeasible even for moderate column counts.</a:t>
            </a:r>
            <a:endParaRPr b="0" i="0" sz="121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6"/>
          <p:cNvSpPr/>
          <p:nvPr/>
        </p:nvSpPr>
        <p:spPr>
          <a:xfrm>
            <a:off x="4155725" y="3249825"/>
            <a:ext cx="2401800" cy="179400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>
            <a:noFill/>
          </a:ln>
          <a:effectLst>
            <a:outerShdw blurRad="67190" rotWithShape="0" algn="bl" dir="2700000" dist="26876">
              <a:srgbClr val="000000">
                <a:alpha val="10199"/>
              </a:srgbClr>
            </a:outerShdw>
          </a:effectLst>
        </p:spPr>
        <p:txBody>
          <a:bodyPr anchorCtr="0" anchor="ctr" bIns="96750" lIns="96750" spcFirstLastPara="1" rIns="96750" wrap="square" tIns="9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3" name="Google Shape;30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15917" y="3475383"/>
            <a:ext cx="440330" cy="451062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16"/>
          <p:cNvSpPr/>
          <p:nvPr/>
        </p:nvSpPr>
        <p:spPr>
          <a:xfrm>
            <a:off x="4275815" y="4028934"/>
            <a:ext cx="21516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350" lIns="96750" spcFirstLastPara="1" rIns="96750" wrap="square" tIns="483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17"/>
              <a:buFont typeface="Calibri"/>
              <a:buNone/>
            </a:pPr>
            <a:r>
              <a:rPr b="1" i="0" lang="en" sz="1217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Large Data Volume</a:t>
            </a:r>
            <a:endParaRPr b="0" i="0" sz="121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6"/>
          <p:cNvSpPr/>
          <p:nvPr/>
        </p:nvSpPr>
        <p:spPr>
          <a:xfrm>
            <a:off x="4275815" y="4377482"/>
            <a:ext cx="2151600" cy="63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350" lIns="96750" spcFirstLastPara="1" rIns="96750" wrap="square" tIns="483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11"/>
              <a:buFont typeface="Calibri"/>
              <a:buNone/>
            </a:pPr>
            <a:r>
              <a:rPr b="0" i="0" lang="en" sz="1211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Millions of rows increase the cost of each uniqueness check substantially.</a:t>
            </a:r>
            <a:endParaRPr b="0" i="0" sz="121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6"/>
          <p:cNvSpPr/>
          <p:nvPr/>
        </p:nvSpPr>
        <p:spPr>
          <a:xfrm>
            <a:off x="6657499" y="1343900"/>
            <a:ext cx="2401800" cy="179400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>
            <a:noFill/>
          </a:ln>
          <a:effectLst>
            <a:outerShdw blurRad="67194" rotWithShape="0" algn="bl" dir="2700000" dist="26878">
              <a:srgbClr val="000000">
                <a:alpha val="10199"/>
              </a:srgbClr>
            </a:outerShdw>
          </a:effectLst>
        </p:spPr>
        <p:txBody>
          <a:bodyPr anchorCtr="0" anchor="ctr" bIns="96750" lIns="96750" spcFirstLastPara="1" rIns="96750" wrap="square" tIns="9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6"/>
          <p:cNvSpPr/>
          <p:nvPr/>
        </p:nvSpPr>
        <p:spPr>
          <a:xfrm>
            <a:off x="6777582" y="1460010"/>
            <a:ext cx="580500" cy="5613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96750" lIns="96750" spcFirstLastPara="1" rIns="96750" wrap="square" tIns="9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8" name="Google Shape;30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37625" y="1518065"/>
            <a:ext cx="440308" cy="425738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16"/>
          <p:cNvSpPr/>
          <p:nvPr/>
        </p:nvSpPr>
        <p:spPr>
          <a:xfrm>
            <a:off x="6777584" y="2123000"/>
            <a:ext cx="21513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350" lIns="96750" spcFirstLastPara="1" rIns="96750" wrap="square" tIns="483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17"/>
              <a:buFont typeface="Calibri"/>
              <a:buNone/>
            </a:pPr>
            <a:r>
              <a:rPr b="1" i="0" lang="en" sz="1217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Distributed </a:t>
            </a:r>
            <a:r>
              <a:rPr b="1" lang="en" sz="1217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notes</a:t>
            </a:r>
            <a:endParaRPr b="0" i="0" sz="121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6"/>
          <p:cNvSpPr/>
          <p:nvPr/>
        </p:nvSpPr>
        <p:spPr>
          <a:xfrm>
            <a:off x="6777575" y="2471550"/>
            <a:ext cx="2239500" cy="63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350" lIns="96750" spcFirstLastPara="1" rIns="96750" wrap="square" tIns="483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11"/>
              <a:buFont typeface="Calibri"/>
              <a:buNone/>
            </a:pPr>
            <a:r>
              <a:rPr b="0" i="0" lang="en" sz="1211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Data across multiple nodes adds coordination, communication, and synchronisation cost.</a:t>
            </a:r>
            <a:endParaRPr b="0" i="0" sz="121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6"/>
          <p:cNvSpPr/>
          <p:nvPr/>
        </p:nvSpPr>
        <p:spPr>
          <a:xfrm>
            <a:off x="6657597" y="3249825"/>
            <a:ext cx="2401800" cy="179400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>
            <a:noFill/>
          </a:ln>
          <a:effectLst>
            <a:outerShdw blurRad="67190" rotWithShape="0" algn="bl" dir="2700000" dist="26876">
              <a:srgbClr val="000000">
                <a:alpha val="10199"/>
              </a:srgbClr>
            </a:outerShdw>
          </a:effectLst>
        </p:spPr>
        <p:txBody>
          <a:bodyPr anchorCtr="0" anchor="ctr" bIns="96750" lIns="96750" spcFirstLastPara="1" rIns="96750" wrap="square" tIns="9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6"/>
          <p:cNvSpPr/>
          <p:nvPr/>
        </p:nvSpPr>
        <p:spPr>
          <a:xfrm>
            <a:off x="6777687" y="3372842"/>
            <a:ext cx="580500" cy="5946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6750" lIns="96750" spcFirstLastPara="1" rIns="96750" wrap="square" tIns="9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3" name="Google Shape;31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37732" y="3434351"/>
            <a:ext cx="440330" cy="451062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16"/>
          <p:cNvSpPr/>
          <p:nvPr/>
        </p:nvSpPr>
        <p:spPr>
          <a:xfrm>
            <a:off x="6678750" y="4028925"/>
            <a:ext cx="23595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350" lIns="96750" spcFirstLastPara="1" rIns="96750" wrap="square" tIns="483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17"/>
              <a:buFont typeface="Calibri"/>
              <a:buNone/>
            </a:pPr>
            <a:r>
              <a:rPr b="1" lang="en" sz="1217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Federated</a:t>
            </a:r>
            <a:r>
              <a:rPr b="1" lang="en" sz="1217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 &amp; </a:t>
            </a:r>
            <a:r>
              <a:rPr b="1" i="0" lang="en" sz="1217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Privacy Constraints</a:t>
            </a:r>
            <a:endParaRPr b="0" i="0" sz="121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6"/>
          <p:cNvSpPr/>
          <p:nvPr/>
        </p:nvSpPr>
        <p:spPr>
          <a:xfrm>
            <a:off x="6777687" y="4377482"/>
            <a:ext cx="2151600" cy="63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350" lIns="96750" spcFirstLastPara="1" rIns="96750" wrap="square" tIns="48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A4A58"/>
              </a:buClr>
              <a:buSzPts val="1050"/>
              <a:buFont typeface="Calibri"/>
              <a:buNone/>
            </a:pPr>
            <a:r>
              <a:rPr lang="en" sz="1200">
                <a:solidFill>
                  <a:srgbClr val="3A4A58"/>
                </a:solidFill>
                <a:latin typeface="Calibri"/>
                <a:ea typeface="Calibri"/>
                <a:cs typeface="Calibri"/>
                <a:sym typeface="Calibri"/>
              </a:rPr>
              <a:t>Raw data cannot always be shared between owners</a:t>
            </a:r>
            <a:endParaRPr sz="12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6" name="Google Shape;316;p16" title="bar_chart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85250" y="1343900"/>
            <a:ext cx="3699924" cy="3699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7"/>
          <p:cNvSpPr txBox="1"/>
          <p:nvPr>
            <p:ph type="title"/>
          </p:nvPr>
        </p:nvSpPr>
        <p:spPr>
          <a:xfrm>
            <a:off x="1256650" y="68560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3263A"/>
              </a:buClr>
              <a:buSzPct val="100000"/>
              <a:buFont typeface="Play"/>
              <a:buNone/>
            </a:pPr>
            <a:r>
              <a:rPr lang="en" sz="2600">
                <a:solidFill>
                  <a:srgbClr val="13263A"/>
                </a:solidFill>
                <a:latin typeface="Play"/>
                <a:ea typeface="Play"/>
                <a:cs typeface="Play"/>
                <a:sym typeface="Play"/>
              </a:rPr>
              <a:t>Literature category: centralized UCC discovery</a:t>
            </a:r>
            <a:endParaRPr b="0" sz="2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7"/>
          <p:cNvSpPr txBox="1"/>
          <p:nvPr>
            <p:ph idx="1" type="body"/>
          </p:nvPr>
        </p:nvSpPr>
        <p:spPr>
          <a:xfrm>
            <a:off x="1855950" y="1480665"/>
            <a:ext cx="5432100" cy="7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3263A"/>
                </a:solidFill>
                <a:latin typeface="Arial"/>
                <a:ea typeface="Arial"/>
                <a:cs typeface="Arial"/>
                <a:sym typeface="Arial"/>
              </a:rPr>
              <a:t>Representative approaches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b="1" sz="1700">
              <a:solidFill>
                <a:srgbClr val="3C78D8"/>
              </a:solidFill>
            </a:endParaRPr>
          </a:p>
        </p:txBody>
      </p:sp>
      <p:sp>
        <p:nvSpPr>
          <p:cNvPr id="323" name="Google Shape;323;p17"/>
          <p:cNvSpPr/>
          <p:nvPr/>
        </p:nvSpPr>
        <p:spPr>
          <a:xfrm>
            <a:off x="1287404" y="2137965"/>
            <a:ext cx="1391700" cy="612300"/>
          </a:xfrm>
          <a:prstGeom prst="roundRect">
            <a:avLst>
              <a:gd fmla="val 16667" name="adj"/>
            </a:avLst>
          </a:prstGeom>
          <a:solidFill>
            <a:srgbClr val="1E4E79"/>
          </a:solidFill>
          <a:ln cap="flat" cmpd="sng" w="11600">
            <a:solidFill>
              <a:srgbClr val="1E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92"/>
              <a:buFont typeface="Arial"/>
              <a:buNone/>
            </a:pPr>
            <a:r>
              <a:rPr b="1" lang="en" sz="219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GORDIAN</a:t>
            </a:r>
            <a:endParaRPr sz="21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7"/>
          <p:cNvSpPr/>
          <p:nvPr/>
        </p:nvSpPr>
        <p:spPr>
          <a:xfrm>
            <a:off x="3013237" y="2137965"/>
            <a:ext cx="1391700" cy="612300"/>
          </a:xfrm>
          <a:prstGeom prst="roundRect">
            <a:avLst>
              <a:gd fmla="val 16667" name="adj"/>
            </a:avLst>
          </a:prstGeom>
          <a:solidFill>
            <a:srgbClr val="159A9C"/>
          </a:solidFill>
          <a:ln cap="flat" cmpd="sng" w="11600">
            <a:solidFill>
              <a:srgbClr val="159A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92"/>
              <a:buFont typeface="Arial"/>
              <a:buNone/>
            </a:pPr>
            <a:r>
              <a:rPr b="1" lang="en" sz="219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DUCC</a:t>
            </a:r>
            <a:endParaRPr sz="21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7"/>
          <p:cNvSpPr/>
          <p:nvPr/>
        </p:nvSpPr>
        <p:spPr>
          <a:xfrm>
            <a:off x="4739070" y="2137965"/>
            <a:ext cx="1391700" cy="612300"/>
          </a:xfrm>
          <a:prstGeom prst="roundRect">
            <a:avLst>
              <a:gd fmla="val 16667" name="adj"/>
            </a:avLst>
          </a:prstGeom>
          <a:solidFill>
            <a:srgbClr val="3C8D5A"/>
          </a:solidFill>
          <a:ln cap="flat" cmpd="sng" w="11600">
            <a:solidFill>
              <a:srgbClr val="3C8D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92"/>
              <a:buFont typeface="Arial"/>
              <a:buNone/>
            </a:pPr>
            <a:r>
              <a:rPr b="1" lang="en" sz="219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HyUCC</a:t>
            </a:r>
            <a:endParaRPr sz="21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7"/>
          <p:cNvSpPr/>
          <p:nvPr/>
        </p:nvSpPr>
        <p:spPr>
          <a:xfrm>
            <a:off x="6464903" y="2137965"/>
            <a:ext cx="1391700" cy="612300"/>
          </a:xfrm>
          <a:prstGeom prst="roundRect">
            <a:avLst>
              <a:gd fmla="val 16667" name="adj"/>
            </a:avLst>
          </a:prstGeom>
          <a:solidFill>
            <a:srgbClr val="D99A2B"/>
          </a:solidFill>
          <a:ln cap="flat" cmpd="sng" w="11600">
            <a:solidFill>
              <a:srgbClr val="D99A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92"/>
              <a:buFont typeface="Arial"/>
              <a:buNone/>
            </a:pPr>
            <a:r>
              <a:rPr b="1" lang="en" sz="219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FAIDA</a:t>
            </a:r>
            <a:endParaRPr sz="21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7"/>
          <p:cNvSpPr txBox="1"/>
          <p:nvPr>
            <p:ph idx="1" type="body"/>
          </p:nvPr>
        </p:nvSpPr>
        <p:spPr>
          <a:xfrm>
            <a:off x="1256650" y="3416800"/>
            <a:ext cx="7030500" cy="13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800"/>
              <a:buChar char="●"/>
            </a:pPr>
            <a:r>
              <a:rPr b="1" lang="en" sz="1800">
                <a:solidFill>
                  <a:srgbClr val="1155CC"/>
                </a:solidFill>
              </a:rPr>
              <a:t>Assume complete dataset is available centrally.</a:t>
            </a:r>
            <a:endParaRPr b="1" sz="1800">
              <a:solidFill>
                <a:srgbClr val="1155CC"/>
              </a:solidFill>
            </a:endParaRPr>
          </a:p>
          <a:p>
            <a:pPr indent="-3429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800"/>
              <a:buChar char="●"/>
            </a:pPr>
            <a:r>
              <a:rPr b="1" lang="en" sz="1800">
                <a:solidFill>
                  <a:srgbClr val="1155CC"/>
                </a:solidFill>
              </a:rPr>
              <a:t>They use smart search strategies instead of checking every possible column combination </a:t>
            </a:r>
            <a:endParaRPr b="1" sz="1800">
              <a:solidFill>
                <a:srgbClr val="1155CC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works:</a:t>
            </a:r>
            <a:endParaRPr sz="1400">
              <a:solidFill>
                <a:srgbClr val="1155CC"/>
              </a:solidFill>
            </a:endParaRPr>
          </a:p>
        </p:txBody>
      </p:sp>
      <p:sp>
        <p:nvSpPr>
          <p:cNvPr id="333" name="Google Shape;333;p18"/>
          <p:cNvSpPr txBox="1"/>
          <p:nvPr>
            <p:ph idx="1" type="body"/>
          </p:nvPr>
        </p:nvSpPr>
        <p:spPr>
          <a:xfrm>
            <a:off x="1303800" y="1502475"/>
            <a:ext cx="7030500" cy="16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b="1" lang="en" sz="1800">
                <a:solidFill>
                  <a:srgbClr val="000000"/>
                </a:solidFill>
              </a:rPr>
              <a:t>Generate possible column combinations,</a:t>
            </a:r>
            <a:endParaRPr b="1" sz="18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b="1" lang="en" sz="1800">
                <a:solidFill>
                  <a:srgbClr val="000000"/>
                </a:solidFill>
              </a:rPr>
              <a:t>Test whether that are unique,</a:t>
            </a:r>
            <a:endParaRPr b="1" sz="18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b="1" lang="en" sz="1800">
                <a:solidFill>
                  <a:srgbClr val="000000"/>
                </a:solidFill>
              </a:rPr>
              <a:t>Remove useless candidates using pruning,</a:t>
            </a:r>
            <a:endParaRPr b="1" sz="18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b="1" lang="en" sz="1800">
                <a:solidFill>
                  <a:srgbClr val="000000"/>
                </a:solidFill>
              </a:rPr>
              <a:t>Keep only minimal UCCs.</a:t>
            </a:r>
            <a:endParaRPr b="1" sz="1800">
              <a:solidFill>
                <a:srgbClr val="000000"/>
              </a:solidFill>
            </a:endParaRPr>
          </a:p>
        </p:txBody>
      </p:sp>
      <p:sp>
        <p:nvSpPr>
          <p:cNvPr id="334" name="Google Shape;334;p18"/>
          <p:cNvSpPr/>
          <p:nvPr/>
        </p:nvSpPr>
        <p:spPr>
          <a:xfrm>
            <a:off x="77250" y="3989175"/>
            <a:ext cx="8989500" cy="848700"/>
          </a:xfrm>
          <a:prstGeom prst="roundRect">
            <a:avLst>
              <a:gd fmla="val 20000" name="adj"/>
            </a:avLst>
          </a:prstGeom>
          <a:solidFill>
            <a:srgbClr val="FEF3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8"/>
          <p:cNvSpPr/>
          <p:nvPr/>
        </p:nvSpPr>
        <p:spPr>
          <a:xfrm>
            <a:off x="223825" y="3913750"/>
            <a:ext cx="8793900" cy="9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100"/>
              <a:buFont typeface="Calibri"/>
              <a:buNone/>
            </a:pPr>
            <a:r>
              <a:rPr b="0" i="0" lang="en" sz="1500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⚠  Limitation: All algorithms assume complete, centralised access to the dataset — incompatible with distributed or federated environments</a:t>
            </a:r>
            <a:r>
              <a:rPr lang="en" sz="1500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, Not enough for data split across </a:t>
            </a:r>
            <a:r>
              <a:rPr lang="en" sz="1500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independent nodes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9"/>
          <p:cNvSpPr txBox="1"/>
          <p:nvPr>
            <p:ph type="title"/>
          </p:nvPr>
        </p:nvSpPr>
        <p:spPr>
          <a:xfrm>
            <a:off x="1256650" y="68560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13263A"/>
                </a:solidFill>
                <a:latin typeface="Play"/>
                <a:ea typeface="Play"/>
                <a:cs typeface="Play"/>
                <a:sym typeface="Play"/>
              </a:rPr>
              <a:t>Hitting set based UCC discovery</a:t>
            </a:r>
            <a:endParaRPr b="0" sz="2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9"/>
          <p:cNvSpPr txBox="1"/>
          <p:nvPr>
            <p:ph idx="1" type="body"/>
          </p:nvPr>
        </p:nvSpPr>
        <p:spPr>
          <a:xfrm>
            <a:off x="1114750" y="1606950"/>
            <a:ext cx="7172400" cy="255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</a:rPr>
              <a:t>Instead of asking: which </a:t>
            </a:r>
            <a:r>
              <a:rPr b="1" lang="en" sz="1500">
                <a:solidFill>
                  <a:srgbClr val="0B5394"/>
                </a:solidFill>
              </a:rPr>
              <a:t>columns are unique</a:t>
            </a:r>
            <a:r>
              <a:rPr b="1" lang="en" sz="1500">
                <a:solidFill>
                  <a:srgbClr val="000000"/>
                </a:solidFill>
              </a:rPr>
              <a:t>?</a:t>
            </a:r>
            <a:endParaRPr b="1" sz="1500">
              <a:solidFill>
                <a:srgbClr val="000000"/>
              </a:solidFill>
            </a:endParaRPr>
          </a:p>
          <a:p>
            <a:pPr indent="0" lvl="0" marL="4572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</a:rPr>
              <a:t>They ask: which </a:t>
            </a:r>
            <a:r>
              <a:rPr b="1" lang="en" sz="1500">
                <a:solidFill>
                  <a:srgbClr val="0B5394"/>
                </a:solidFill>
              </a:rPr>
              <a:t>columns can separate all pairs of rows that look similar</a:t>
            </a:r>
            <a:r>
              <a:rPr b="1" lang="en" sz="1500">
                <a:solidFill>
                  <a:srgbClr val="000000"/>
                </a:solidFill>
              </a:rPr>
              <a:t>?</a:t>
            </a:r>
            <a:endParaRPr b="1" sz="1500">
              <a:solidFill>
                <a:srgbClr val="000000"/>
              </a:solidFill>
            </a:endParaRPr>
          </a:p>
          <a:p>
            <a:pPr indent="0" lvl="0" marL="4572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</a:rPr>
              <a:t>Imagine two rows are equal in some columns and different in others.</a:t>
            </a:r>
            <a:endParaRPr b="1" sz="1500">
              <a:solidFill>
                <a:srgbClr val="000000"/>
              </a:solidFill>
            </a:endParaRPr>
          </a:p>
          <a:p>
            <a:pPr indent="0" lvl="0" marL="4572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B5394"/>
                </a:solidFill>
              </a:rPr>
              <a:t>To make a column combination unique, it must contain at least one column that </a:t>
            </a:r>
            <a:r>
              <a:rPr b="1" lang="en" sz="1500">
                <a:solidFill>
                  <a:srgbClr val="0B5394"/>
                </a:solidFill>
              </a:rPr>
              <a:t>separates</a:t>
            </a:r>
            <a:r>
              <a:rPr b="1" lang="en" sz="1500">
                <a:solidFill>
                  <a:srgbClr val="0B5394"/>
                </a:solidFill>
              </a:rPr>
              <a:t> every conflicting pair of rows.</a:t>
            </a:r>
            <a:endParaRPr b="1" sz="1500">
              <a:solidFill>
                <a:srgbClr val="0B5394"/>
              </a:solidFill>
            </a:endParaRPr>
          </a:p>
          <a:p>
            <a:pPr indent="0" lvl="0" marL="45720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500">
                <a:solidFill>
                  <a:srgbClr val="0B5394"/>
                </a:solidFill>
              </a:rPr>
              <a:t>So UCC discovery becomes a minimal hitting set.</a:t>
            </a:r>
            <a:endParaRPr b="1" sz="1500">
              <a:solidFill>
                <a:srgbClr val="0B5394"/>
              </a:solidFill>
            </a:endParaRPr>
          </a:p>
        </p:txBody>
      </p:sp>
      <p:sp>
        <p:nvSpPr>
          <p:cNvPr id="342" name="Google Shape;342;p19"/>
          <p:cNvSpPr/>
          <p:nvPr/>
        </p:nvSpPr>
        <p:spPr>
          <a:xfrm>
            <a:off x="888663" y="4219650"/>
            <a:ext cx="7766400" cy="92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1000">
            <a:solidFill>
              <a:srgbClr val="D0DDE8"/>
            </a:solidFill>
            <a:prstDash val="solid"/>
            <a:round/>
            <a:headEnd len="sm" w="sm" type="none"/>
            <a:tailEnd len="sm" w="sm" type="none"/>
          </a:ln>
          <a:effectLst>
            <a:outerShdw blurRad="117392" rotWithShape="0" algn="bl" dir="2700000" dist="44022">
              <a:srgbClr val="000000">
                <a:alpha val="12939"/>
              </a:srgbClr>
            </a:outerShdw>
          </a:effectLst>
        </p:spPr>
        <p:txBody>
          <a:bodyPr anchorCtr="0" anchor="ctr" bIns="105625" lIns="105625" spcFirstLastPara="1" rIns="105625" wrap="square" tIns="105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9"/>
          <p:cNvSpPr/>
          <p:nvPr/>
        </p:nvSpPr>
        <p:spPr>
          <a:xfrm>
            <a:off x="1090537" y="4302100"/>
            <a:ext cx="7564500" cy="41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502"/>
              <a:buFont typeface="Calibri"/>
              <a:buNone/>
            </a:pPr>
            <a:r>
              <a:rPr b="1" i="0" lang="en" sz="1502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Key Papers</a:t>
            </a:r>
            <a:endParaRPr b="0" i="0" sz="150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9"/>
          <p:cNvSpPr/>
          <p:nvPr/>
        </p:nvSpPr>
        <p:spPr>
          <a:xfrm>
            <a:off x="2137337" y="4159050"/>
            <a:ext cx="6517800" cy="9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58"/>
              </a:buClr>
              <a:buSzPts val="1213"/>
              <a:buFont typeface="Calibri"/>
              <a:buNone/>
            </a:pPr>
            <a:r>
              <a:rPr b="0" i="0" lang="en" sz="1513" u="none" cap="none" strike="noStrike">
                <a:solidFill>
                  <a:srgbClr val="3A4A58"/>
                </a:solidFill>
                <a:latin typeface="Calibri"/>
                <a:ea typeface="Calibri"/>
                <a:cs typeface="Calibri"/>
                <a:sym typeface="Calibri"/>
              </a:rPr>
              <a:t>• Hitting Set Enumeration with Partial Information for UCC Discovery</a:t>
            </a:r>
            <a:br>
              <a:rPr b="0" i="0" lang="en" sz="1513" u="none" cap="none" strike="noStrike">
                <a:solidFill>
                  <a:srgbClr val="3A4A5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513" u="none" cap="none" strike="noStrike">
                <a:solidFill>
                  <a:srgbClr val="3A4A58"/>
                </a:solidFill>
                <a:latin typeface="Calibri"/>
                <a:ea typeface="Calibri"/>
                <a:cs typeface="Calibri"/>
                <a:sym typeface="Calibri"/>
              </a:rPr>
              <a:t>• Efficiently Enumerating Hitting Sets of Hypergraphs Arising in Data Profiling</a:t>
            </a:r>
            <a:endParaRPr b="0" i="0" sz="151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0"/>
          <p:cNvSpPr txBox="1"/>
          <p:nvPr>
            <p:ph type="title"/>
          </p:nvPr>
        </p:nvSpPr>
        <p:spPr>
          <a:xfrm>
            <a:off x="1256650" y="68560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13263A"/>
                </a:solidFill>
                <a:latin typeface="Play"/>
                <a:ea typeface="Play"/>
                <a:cs typeface="Play"/>
                <a:sym typeface="Play"/>
              </a:rPr>
              <a:t>Hitting set framework</a:t>
            </a:r>
            <a:endParaRPr b="0" sz="2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50" name="Google Shape;350;p20"/>
          <p:cNvCxnSpPr>
            <a:endCxn id="351" idx="1"/>
          </p:cNvCxnSpPr>
          <p:nvPr/>
        </p:nvCxnSpPr>
        <p:spPr>
          <a:xfrm>
            <a:off x="2080320" y="2004395"/>
            <a:ext cx="594300" cy="0"/>
          </a:xfrm>
          <a:prstGeom prst="straightConnector1">
            <a:avLst/>
          </a:prstGeom>
          <a:noFill/>
          <a:ln cap="flat" cmpd="sng" w="16500">
            <a:solidFill>
              <a:srgbClr val="59636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2" name="Google Shape;352;p20"/>
          <p:cNvSpPr/>
          <p:nvPr/>
        </p:nvSpPr>
        <p:spPr>
          <a:xfrm>
            <a:off x="480060" y="1501445"/>
            <a:ext cx="1600200" cy="1005900"/>
          </a:xfrm>
          <a:prstGeom prst="roundRect">
            <a:avLst>
              <a:gd fmla="val 16667" name="adj"/>
            </a:avLst>
          </a:prstGeom>
          <a:solidFill>
            <a:srgbClr val="1E4E79"/>
          </a:solidFill>
          <a:ln cap="flat" cmpd="sng" w="9525">
            <a:solidFill>
              <a:srgbClr val="1E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Arial"/>
              <a:buNone/>
            </a:pPr>
            <a:r>
              <a:rPr b="1" lang="en" sz="15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Row-pair</a:t>
            </a:r>
            <a:endParaRPr sz="15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Arial"/>
              <a:buNone/>
            </a:pPr>
            <a:r>
              <a:rPr b="1" lang="en" sz="15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conflicts</a:t>
            </a:r>
            <a:endParaRPr sz="15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20"/>
          <p:cNvSpPr/>
          <p:nvPr/>
        </p:nvSpPr>
        <p:spPr>
          <a:xfrm>
            <a:off x="2674620" y="1501445"/>
            <a:ext cx="1600200" cy="1005900"/>
          </a:xfrm>
          <a:prstGeom prst="roundRect">
            <a:avLst>
              <a:gd fmla="val 16667" name="adj"/>
            </a:avLst>
          </a:prstGeom>
          <a:solidFill>
            <a:srgbClr val="159A9C"/>
          </a:solidFill>
          <a:ln cap="flat" cmpd="sng" w="9525">
            <a:solidFill>
              <a:srgbClr val="159A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Arial"/>
              <a:buNone/>
            </a:pPr>
            <a:r>
              <a:rPr b="1" lang="en" sz="15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Difference</a:t>
            </a:r>
            <a:endParaRPr sz="15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Arial"/>
              <a:buNone/>
            </a:pPr>
            <a:r>
              <a:rPr b="1" lang="en" sz="15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sets</a:t>
            </a:r>
            <a:endParaRPr sz="15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20"/>
          <p:cNvSpPr/>
          <p:nvPr/>
        </p:nvSpPr>
        <p:spPr>
          <a:xfrm>
            <a:off x="4869180" y="1501445"/>
            <a:ext cx="1600200" cy="1005900"/>
          </a:xfrm>
          <a:prstGeom prst="roundRect">
            <a:avLst>
              <a:gd fmla="val 16667" name="adj"/>
            </a:avLst>
          </a:prstGeom>
          <a:solidFill>
            <a:srgbClr val="3C8D5A"/>
          </a:solidFill>
          <a:ln cap="flat" cmpd="sng" w="9525">
            <a:solidFill>
              <a:srgbClr val="3C8D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Arial"/>
              <a:buNone/>
            </a:pPr>
            <a:r>
              <a:rPr b="1" lang="en" sz="15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Minimal hitting</a:t>
            </a:r>
            <a:endParaRPr sz="15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Arial"/>
              <a:buNone/>
            </a:pPr>
            <a:r>
              <a:rPr b="1" lang="en" sz="15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sets</a:t>
            </a:r>
            <a:endParaRPr sz="15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20"/>
          <p:cNvSpPr/>
          <p:nvPr/>
        </p:nvSpPr>
        <p:spPr>
          <a:xfrm>
            <a:off x="7063740" y="1501445"/>
            <a:ext cx="1600200" cy="1005900"/>
          </a:xfrm>
          <a:prstGeom prst="roundRect">
            <a:avLst>
              <a:gd fmla="val 16667" name="adj"/>
            </a:avLst>
          </a:prstGeom>
          <a:solidFill>
            <a:srgbClr val="13263A"/>
          </a:solidFill>
          <a:ln cap="flat" cmpd="sng" w="9525">
            <a:solidFill>
              <a:srgbClr val="1326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Arial"/>
              <a:buNone/>
            </a:pPr>
            <a:r>
              <a:rPr b="1" lang="en" sz="15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Minimal</a:t>
            </a:r>
            <a:endParaRPr sz="15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Arial"/>
              <a:buNone/>
            </a:pPr>
            <a:r>
              <a:rPr b="1" lang="en" sz="15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UCCs</a:t>
            </a:r>
            <a:endParaRPr sz="15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5" name="Google Shape;355;p20"/>
          <p:cNvCxnSpPr/>
          <p:nvPr/>
        </p:nvCxnSpPr>
        <p:spPr>
          <a:xfrm>
            <a:off x="4274845" y="2004395"/>
            <a:ext cx="594300" cy="0"/>
          </a:xfrm>
          <a:prstGeom prst="straightConnector1">
            <a:avLst/>
          </a:prstGeom>
          <a:noFill/>
          <a:ln cap="flat" cmpd="sng" w="16500">
            <a:solidFill>
              <a:srgbClr val="59636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56" name="Google Shape;356;p20"/>
          <p:cNvCxnSpPr/>
          <p:nvPr/>
        </p:nvCxnSpPr>
        <p:spPr>
          <a:xfrm>
            <a:off x="6469370" y="2004395"/>
            <a:ext cx="594300" cy="0"/>
          </a:xfrm>
          <a:prstGeom prst="straightConnector1">
            <a:avLst/>
          </a:prstGeom>
          <a:noFill/>
          <a:ln cap="flat" cmpd="sng" w="16500">
            <a:solidFill>
              <a:srgbClr val="59636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7" name="Google Shape;357;p20"/>
          <p:cNvSpPr txBox="1"/>
          <p:nvPr>
            <p:ph idx="1" type="body"/>
          </p:nvPr>
        </p:nvSpPr>
        <p:spPr>
          <a:xfrm>
            <a:off x="536075" y="2788300"/>
            <a:ext cx="8354100" cy="200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>
                <a:solidFill>
                  <a:srgbClr val="000000"/>
                </a:solidFill>
              </a:rPr>
              <a:t>PLI: </a:t>
            </a:r>
            <a:r>
              <a:rPr b="1" lang="en" sz="1400">
                <a:solidFill>
                  <a:srgbClr val="0B5394"/>
                </a:solidFill>
              </a:rPr>
              <a:t>position list index- group rows with identical values per column.</a:t>
            </a:r>
            <a:endParaRPr b="1" sz="1400">
              <a:solidFill>
                <a:srgbClr val="000000"/>
              </a:solidFill>
            </a:endParaRPr>
          </a:p>
          <a:p>
            <a:pPr indent="-317500" lvl="0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>
                <a:solidFill>
                  <a:srgbClr val="000000"/>
                </a:solidFill>
              </a:rPr>
              <a:t>Agree set: </a:t>
            </a:r>
            <a:r>
              <a:rPr b="1" lang="en" sz="1400">
                <a:solidFill>
                  <a:srgbClr val="0B5394"/>
                </a:solidFill>
              </a:rPr>
              <a:t>columns where two rows have the same value</a:t>
            </a:r>
            <a:r>
              <a:rPr b="1" lang="en" sz="1400">
                <a:solidFill>
                  <a:srgbClr val="000000"/>
                </a:solidFill>
              </a:rPr>
              <a:t>.</a:t>
            </a:r>
            <a:endParaRPr b="1" sz="1400">
              <a:solidFill>
                <a:srgbClr val="000000"/>
              </a:solidFill>
            </a:endParaRPr>
          </a:p>
          <a:p>
            <a:pPr indent="-317500" lvl="0" marL="9144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b="1" lang="en" sz="1400">
                <a:solidFill>
                  <a:srgbClr val="000000"/>
                </a:solidFill>
              </a:rPr>
              <a:t>Difference</a:t>
            </a:r>
            <a:r>
              <a:rPr b="1" lang="en" sz="1400">
                <a:solidFill>
                  <a:srgbClr val="000000"/>
                </a:solidFill>
              </a:rPr>
              <a:t> set: </a:t>
            </a:r>
            <a:r>
              <a:rPr b="1" lang="en" sz="1400">
                <a:solidFill>
                  <a:srgbClr val="0B5394"/>
                </a:solidFill>
              </a:rPr>
              <a:t>columns where two rows have different values.</a:t>
            </a:r>
            <a:endParaRPr b="1" sz="1400">
              <a:solidFill>
                <a:srgbClr val="000000"/>
              </a:solidFill>
            </a:endParaRPr>
          </a:p>
          <a:p>
            <a:pPr indent="-317500" lvl="0" marL="9144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b="1" lang="en" sz="1400">
                <a:solidFill>
                  <a:srgbClr val="000000"/>
                </a:solidFill>
              </a:rPr>
              <a:t>Hitting set: </a:t>
            </a:r>
            <a:r>
              <a:rPr b="1" lang="en" sz="1400">
                <a:solidFill>
                  <a:srgbClr val="0B5394"/>
                </a:solidFill>
              </a:rPr>
              <a:t>a set of columns that separates all conflicts. </a:t>
            </a:r>
            <a:endParaRPr b="1" sz="1400">
              <a:solidFill>
                <a:srgbClr val="000000"/>
              </a:solidFill>
            </a:endParaRPr>
          </a:p>
          <a:p>
            <a:pPr indent="0" lvl="0" marL="45720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400">
                <a:solidFill>
                  <a:srgbClr val="0B5394"/>
                </a:solidFill>
              </a:rPr>
              <a:t>Then they enumerate minimal hitting sets. These minimal hitting sets correspond to possible minimal UCCs.</a:t>
            </a:r>
            <a:endParaRPr b="1" sz="1400">
              <a:solidFill>
                <a:srgbClr val="0B5394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r>
              <a:rPr lang="en" sz="2600">
                <a:solidFill>
                  <a:srgbClr val="13263A"/>
                </a:solidFill>
                <a:latin typeface="Play"/>
                <a:ea typeface="Play"/>
                <a:cs typeface="Play"/>
                <a:sym typeface="Play"/>
              </a:rPr>
              <a:t>calable and parallel UCC discovery</a:t>
            </a:r>
            <a:endParaRPr b="0" sz="2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21"/>
          <p:cNvSpPr/>
          <p:nvPr/>
        </p:nvSpPr>
        <p:spPr>
          <a:xfrm>
            <a:off x="290300" y="1510705"/>
            <a:ext cx="8412600" cy="611100"/>
          </a:xfrm>
          <a:prstGeom prst="roundRect">
            <a:avLst>
              <a:gd fmla="val 20000" name="adj"/>
            </a:avLst>
          </a:prstGeom>
          <a:solidFill>
            <a:srgbClr val="ECFD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1"/>
          <p:cNvSpPr/>
          <p:nvPr/>
        </p:nvSpPr>
        <p:spPr>
          <a:xfrm>
            <a:off x="276900" y="1463528"/>
            <a:ext cx="8590200" cy="61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1050"/>
              <a:buFont typeface="Calibri"/>
              <a:buNone/>
            </a:pPr>
            <a:r>
              <a:rPr lang="en" sz="1500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“Scalable Discovery of unique Column Combinations” - introduces efficient parallelism for UCC enumeration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1"/>
          <p:cNvSpPr/>
          <p:nvPr/>
        </p:nvSpPr>
        <p:spPr>
          <a:xfrm>
            <a:off x="457200" y="2231451"/>
            <a:ext cx="2651700" cy="1653900"/>
          </a:xfrm>
          <a:prstGeom prst="roundRect">
            <a:avLst>
              <a:gd fmla="val 7059" name="adj"/>
            </a:avLst>
          </a:prstGeom>
          <a:solidFill>
            <a:srgbClr val="FFFFFF"/>
          </a:solidFill>
          <a:ln cap="flat" cmpd="sng" w="9525">
            <a:solidFill>
              <a:srgbClr val="D0DD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21"/>
          <p:cNvSpPr/>
          <p:nvPr/>
        </p:nvSpPr>
        <p:spPr>
          <a:xfrm>
            <a:off x="566928" y="2322880"/>
            <a:ext cx="420600" cy="420600"/>
          </a:xfrm>
          <a:prstGeom prst="ellipse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21"/>
          <p:cNvSpPr/>
          <p:nvPr/>
        </p:nvSpPr>
        <p:spPr>
          <a:xfrm>
            <a:off x="566928" y="2322880"/>
            <a:ext cx="420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1"/>
          <p:cNvSpPr/>
          <p:nvPr/>
        </p:nvSpPr>
        <p:spPr>
          <a:xfrm>
            <a:off x="548640" y="2825800"/>
            <a:ext cx="2469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50"/>
              <a:buFont typeface="Calibri"/>
              <a:buNone/>
            </a:pPr>
            <a:r>
              <a:rPr b="1" i="0" lang="en" sz="12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Work Partitioning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1"/>
          <p:cNvSpPr/>
          <p:nvPr/>
        </p:nvSpPr>
        <p:spPr>
          <a:xfrm>
            <a:off x="548640" y="3218992"/>
            <a:ext cx="24690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58"/>
              </a:buClr>
              <a:buSzPts val="1050"/>
              <a:buFont typeface="Calibri"/>
              <a:buNone/>
            </a:pPr>
            <a:r>
              <a:rPr b="0" i="0" lang="en" sz="1300" u="none" cap="none" strike="noStrike">
                <a:solidFill>
                  <a:srgbClr val="3A4A58"/>
                </a:solidFill>
                <a:latin typeface="Calibri"/>
                <a:ea typeface="Calibri"/>
                <a:cs typeface="Calibri"/>
                <a:sym typeface="Calibri"/>
              </a:rPr>
              <a:t>Distribute candidate column sets across multiple CPU cores</a:t>
            </a:r>
            <a:r>
              <a:rPr lang="en" sz="1300">
                <a:solidFill>
                  <a:srgbClr val="3A4A5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" sz="1300" u="none" cap="none" strike="noStrike">
                <a:solidFill>
                  <a:srgbClr val="3A4A58"/>
                </a:solidFill>
                <a:latin typeface="Calibri"/>
                <a:ea typeface="Calibri"/>
                <a:cs typeface="Calibri"/>
                <a:sym typeface="Calibri"/>
              </a:rPr>
              <a:t> for </a:t>
            </a:r>
            <a:r>
              <a:rPr lang="en" sz="1300">
                <a:solidFill>
                  <a:srgbClr val="3A4A58"/>
                </a:solidFill>
                <a:latin typeface="Calibri"/>
                <a:ea typeface="Calibri"/>
                <a:cs typeface="Calibri"/>
                <a:sym typeface="Calibri"/>
              </a:rPr>
              <a:t>parallel evaluation.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1"/>
          <p:cNvSpPr/>
          <p:nvPr/>
        </p:nvSpPr>
        <p:spPr>
          <a:xfrm>
            <a:off x="3291850" y="2231451"/>
            <a:ext cx="2651700" cy="1653900"/>
          </a:xfrm>
          <a:prstGeom prst="roundRect">
            <a:avLst>
              <a:gd fmla="val 7059" name="adj"/>
            </a:avLst>
          </a:prstGeom>
          <a:solidFill>
            <a:srgbClr val="FFFFFF"/>
          </a:solidFill>
          <a:ln cap="flat" cmpd="sng" w="9525">
            <a:solidFill>
              <a:srgbClr val="D0DD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21"/>
          <p:cNvSpPr/>
          <p:nvPr/>
        </p:nvSpPr>
        <p:spPr>
          <a:xfrm>
            <a:off x="3401568" y="2322880"/>
            <a:ext cx="420600" cy="420600"/>
          </a:xfrm>
          <a:prstGeom prst="ellipse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21"/>
          <p:cNvSpPr/>
          <p:nvPr/>
        </p:nvSpPr>
        <p:spPr>
          <a:xfrm>
            <a:off x="3401568" y="2322880"/>
            <a:ext cx="420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1"/>
          <p:cNvSpPr/>
          <p:nvPr/>
        </p:nvSpPr>
        <p:spPr>
          <a:xfrm>
            <a:off x="3383280" y="2825800"/>
            <a:ext cx="2469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50"/>
              <a:buFont typeface="Calibri"/>
              <a:buNone/>
            </a:pPr>
            <a:r>
              <a:rPr b="1" i="0" lang="en" sz="12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Memory-Aware Search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1"/>
          <p:cNvSpPr/>
          <p:nvPr/>
        </p:nvSpPr>
        <p:spPr>
          <a:xfrm>
            <a:off x="3383280" y="3218992"/>
            <a:ext cx="24690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58"/>
              </a:buClr>
              <a:buSzPts val="1050"/>
              <a:buFont typeface="Calibri"/>
              <a:buNone/>
            </a:pPr>
            <a:r>
              <a:rPr b="0" i="0" lang="en" sz="1300" u="none" cap="none" strike="noStrike">
                <a:solidFill>
                  <a:srgbClr val="3A4A58"/>
                </a:solidFill>
                <a:latin typeface="Calibri"/>
                <a:ea typeface="Calibri"/>
                <a:cs typeface="Calibri"/>
                <a:sym typeface="Calibri"/>
              </a:rPr>
              <a:t>Manage large PLI structures efficiently; avoid redundant recomputation across candidates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1"/>
          <p:cNvSpPr/>
          <p:nvPr/>
        </p:nvSpPr>
        <p:spPr>
          <a:xfrm>
            <a:off x="6126475" y="2231451"/>
            <a:ext cx="2651700" cy="1653900"/>
          </a:xfrm>
          <a:prstGeom prst="roundRect">
            <a:avLst>
              <a:gd fmla="val 7059" name="adj"/>
            </a:avLst>
          </a:prstGeom>
          <a:solidFill>
            <a:srgbClr val="FFFFFF"/>
          </a:solidFill>
          <a:ln cap="flat" cmpd="sng" w="9525">
            <a:solidFill>
              <a:srgbClr val="D0DD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21"/>
          <p:cNvSpPr/>
          <p:nvPr/>
        </p:nvSpPr>
        <p:spPr>
          <a:xfrm>
            <a:off x="6236208" y="2322880"/>
            <a:ext cx="420600" cy="420600"/>
          </a:xfrm>
          <a:prstGeom prst="ellipse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21"/>
          <p:cNvSpPr/>
          <p:nvPr/>
        </p:nvSpPr>
        <p:spPr>
          <a:xfrm>
            <a:off x="6236208" y="2322880"/>
            <a:ext cx="420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1"/>
          <p:cNvSpPr/>
          <p:nvPr/>
        </p:nvSpPr>
        <p:spPr>
          <a:xfrm>
            <a:off x="6217920" y="2825800"/>
            <a:ext cx="2469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50"/>
              <a:buFont typeface="Calibri"/>
              <a:buNone/>
            </a:pPr>
            <a:r>
              <a:rPr b="1" i="0" lang="en" sz="12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Pruning + Ordering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1"/>
          <p:cNvSpPr/>
          <p:nvPr/>
        </p:nvSpPr>
        <p:spPr>
          <a:xfrm>
            <a:off x="6217920" y="3218992"/>
            <a:ext cx="24690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58"/>
              </a:buClr>
              <a:buSzPts val="1050"/>
              <a:buFont typeface="Calibri"/>
              <a:buNone/>
            </a:pPr>
            <a:r>
              <a:rPr b="0" i="0" lang="en" sz="1300" u="none" cap="none" strike="noStrike">
                <a:solidFill>
                  <a:srgbClr val="3A4A58"/>
                </a:solidFill>
                <a:latin typeface="Calibri"/>
                <a:ea typeface="Calibri"/>
                <a:cs typeface="Calibri"/>
                <a:sym typeface="Calibri"/>
              </a:rPr>
              <a:t>Prioritize promising candidates first; prune supersets of discovered UCCs early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1"/>
          <p:cNvSpPr txBox="1"/>
          <p:nvPr>
            <p:ph type="title"/>
          </p:nvPr>
        </p:nvSpPr>
        <p:spPr>
          <a:xfrm>
            <a:off x="2176825" y="4846550"/>
            <a:ext cx="7030500" cy="3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6AA84F"/>
                </a:solidFill>
                <a:latin typeface="Nunito"/>
                <a:ea typeface="Nunito"/>
                <a:cs typeface="Nunito"/>
                <a:sym typeface="Nunito"/>
              </a:rPr>
              <a:t>*PLI: position list index</a:t>
            </a:r>
            <a:endParaRPr sz="1400">
              <a:solidFill>
                <a:srgbClr val="1155CC"/>
              </a:solidFill>
            </a:endParaRPr>
          </a:p>
        </p:txBody>
      </p:sp>
      <p:sp>
        <p:nvSpPr>
          <p:cNvPr id="381" name="Google Shape;381;p21"/>
          <p:cNvSpPr/>
          <p:nvPr/>
        </p:nvSpPr>
        <p:spPr>
          <a:xfrm>
            <a:off x="388538" y="3913800"/>
            <a:ext cx="1828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Measured By: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1"/>
          <p:cNvSpPr/>
          <p:nvPr/>
        </p:nvSpPr>
        <p:spPr>
          <a:xfrm>
            <a:off x="388538" y="4297848"/>
            <a:ext cx="2011800" cy="530400"/>
          </a:xfrm>
          <a:prstGeom prst="roundRect">
            <a:avLst>
              <a:gd fmla="val 13793" name="adj"/>
            </a:avLst>
          </a:prstGeom>
          <a:solidFill>
            <a:srgbClr val="E8F4FB"/>
          </a:solidFill>
          <a:ln cap="flat" cmpd="sng" w="9525">
            <a:solidFill>
              <a:srgbClr val="C5DC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383" name="Google Shape;383;p21"/>
          <p:cNvSpPr/>
          <p:nvPr/>
        </p:nvSpPr>
        <p:spPr>
          <a:xfrm>
            <a:off x="461690" y="4316136"/>
            <a:ext cx="18654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1150"/>
              <a:buFont typeface="Calibri"/>
              <a:buNone/>
            </a:pPr>
            <a:r>
              <a:rPr b="1" i="0" lang="en" sz="1300" u="none" cap="none" strike="noStrike">
                <a:solidFill>
                  <a:srgbClr val="1B6CA8"/>
                </a:solidFill>
                <a:latin typeface="Calibri"/>
                <a:ea typeface="Calibri"/>
                <a:cs typeface="Calibri"/>
                <a:sym typeface="Calibri"/>
              </a:rPr>
              <a:t>Runtime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1"/>
          <p:cNvSpPr/>
          <p:nvPr/>
        </p:nvSpPr>
        <p:spPr>
          <a:xfrm>
            <a:off x="2537378" y="4297848"/>
            <a:ext cx="2011800" cy="530400"/>
          </a:xfrm>
          <a:prstGeom prst="roundRect">
            <a:avLst>
              <a:gd fmla="val 13793" name="adj"/>
            </a:avLst>
          </a:prstGeom>
          <a:solidFill>
            <a:srgbClr val="E8F4FB"/>
          </a:solidFill>
          <a:ln cap="flat" cmpd="sng" w="9525">
            <a:solidFill>
              <a:srgbClr val="C5DC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385" name="Google Shape;385;p21"/>
          <p:cNvSpPr/>
          <p:nvPr/>
        </p:nvSpPr>
        <p:spPr>
          <a:xfrm>
            <a:off x="2610530" y="4316136"/>
            <a:ext cx="18654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1150"/>
              <a:buFont typeface="Calibri"/>
              <a:buNone/>
            </a:pPr>
            <a:r>
              <a:rPr b="1" i="0" lang="en" sz="1300" u="none" cap="none" strike="noStrike">
                <a:solidFill>
                  <a:srgbClr val="1B6CA8"/>
                </a:solidFill>
                <a:latin typeface="Calibri"/>
                <a:ea typeface="Calibri"/>
                <a:cs typeface="Calibri"/>
                <a:sym typeface="Calibri"/>
              </a:rPr>
              <a:t>Speedup vs. # cores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1"/>
          <p:cNvSpPr/>
          <p:nvPr/>
        </p:nvSpPr>
        <p:spPr>
          <a:xfrm>
            <a:off x="4686218" y="4297848"/>
            <a:ext cx="2011800" cy="530400"/>
          </a:xfrm>
          <a:prstGeom prst="roundRect">
            <a:avLst>
              <a:gd fmla="val 13793" name="adj"/>
            </a:avLst>
          </a:prstGeom>
          <a:solidFill>
            <a:srgbClr val="E8F4FB"/>
          </a:solidFill>
          <a:ln cap="flat" cmpd="sng" w="9525">
            <a:solidFill>
              <a:srgbClr val="C5DC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387" name="Google Shape;387;p21"/>
          <p:cNvSpPr/>
          <p:nvPr/>
        </p:nvSpPr>
        <p:spPr>
          <a:xfrm>
            <a:off x="4759369" y="4316136"/>
            <a:ext cx="18654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1150"/>
              <a:buFont typeface="Calibri"/>
              <a:buNone/>
            </a:pPr>
            <a:r>
              <a:rPr b="1" i="0" lang="en" sz="1300" u="none" cap="none" strike="noStrike">
                <a:solidFill>
                  <a:srgbClr val="1B6CA8"/>
                </a:solidFill>
                <a:latin typeface="Calibri"/>
                <a:ea typeface="Calibri"/>
                <a:cs typeface="Calibri"/>
                <a:sym typeface="Calibri"/>
              </a:rPr>
              <a:t>Rows / Columns scalability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1"/>
          <p:cNvSpPr/>
          <p:nvPr/>
        </p:nvSpPr>
        <p:spPr>
          <a:xfrm>
            <a:off x="6835058" y="4297848"/>
            <a:ext cx="2011800" cy="530400"/>
          </a:xfrm>
          <a:prstGeom prst="roundRect">
            <a:avLst>
              <a:gd fmla="val 13793" name="adj"/>
            </a:avLst>
          </a:prstGeom>
          <a:solidFill>
            <a:srgbClr val="E8F4FB"/>
          </a:solidFill>
          <a:ln cap="flat" cmpd="sng" w="9525">
            <a:solidFill>
              <a:srgbClr val="C5DC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389" name="Google Shape;389;p21"/>
          <p:cNvSpPr/>
          <p:nvPr/>
        </p:nvSpPr>
        <p:spPr>
          <a:xfrm>
            <a:off x="6908210" y="4316136"/>
            <a:ext cx="18654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1150"/>
              <a:buFont typeface="Calibri"/>
              <a:buNone/>
            </a:pPr>
            <a:r>
              <a:rPr b="1" i="0" lang="en" sz="1300" u="none" cap="none" strike="noStrike">
                <a:solidFill>
                  <a:srgbClr val="1B6CA8"/>
                </a:solidFill>
                <a:latin typeface="Calibri"/>
                <a:ea typeface="Calibri"/>
                <a:cs typeface="Calibri"/>
                <a:sym typeface="Calibri"/>
              </a:rPr>
              <a:t>Memory </a:t>
            </a:r>
            <a:r>
              <a:rPr b="1" lang="en" sz="1300">
                <a:solidFill>
                  <a:srgbClr val="1B6CA8"/>
                </a:solidFill>
                <a:latin typeface="Calibri"/>
                <a:ea typeface="Calibri"/>
                <a:cs typeface="Calibri"/>
                <a:sym typeface="Calibri"/>
              </a:rPr>
              <a:t>consumption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2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r>
              <a:rPr lang="en" sz="2600">
                <a:solidFill>
                  <a:srgbClr val="13263A"/>
                </a:solidFill>
                <a:latin typeface="Play"/>
                <a:ea typeface="Play"/>
                <a:cs typeface="Play"/>
                <a:sym typeface="Play"/>
              </a:rPr>
              <a:t>calable and parallel UCC discovery</a:t>
            </a:r>
            <a:endParaRPr b="0" sz="2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22"/>
          <p:cNvSpPr txBox="1"/>
          <p:nvPr>
            <p:ph idx="1" type="body"/>
          </p:nvPr>
        </p:nvSpPr>
        <p:spPr>
          <a:xfrm>
            <a:off x="1395750" y="1597875"/>
            <a:ext cx="6846600" cy="336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8761D"/>
                </a:solidFill>
              </a:rPr>
              <a:t>Where helps: </a:t>
            </a:r>
            <a:endParaRPr b="1" sz="1800">
              <a:solidFill>
                <a:srgbClr val="38761D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b="1" lang="en" sz="1800">
                <a:solidFill>
                  <a:srgbClr val="000000"/>
                </a:solidFill>
              </a:rPr>
              <a:t>Large centralized datasets</a:t>
            </a:r>
            <a:endParaRPr b="1" sz="18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b="1" lang="en" sz="1800">
                <a:solidFill>
                  <a:srgbClr val="000000"/>
                </a:solidFill>
              </a:rPr>
              <a:t>Wide datasets with many candidate combinations</a:t>
            </a:r>
            <a:endParaRPr b="1" sz="18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b="1" lang="en" sz="1800">
                <a:solidFill>
                  <a:srgbClr val="000000"/>
                </a:solidFill>
              </a:rPr>
              <a:t>Multi-core execution on a single machine</a:t>
            </a:r>
            <a:endParaRPr b="1" sz="18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90000"/>
                </a:solidFill>
              </a:rPr>
              <a:t>Limitations:</a:t>
            </a:r>
            <a:endParaRPr b="1" sz="1800">
              <a:solidFill>
                <a:srgbClr val="99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</a:rPr>
              <a:t>Many approaches still assume central data access</a:t>
            </a:r>
            <a:endParaRPr b="1" sz="18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800">
                <a:solidFill>
                  <a:srgbClr val="000000"/>
                </a:solidFill>
              </a:rPr>
              <a:t>Parallelism alone does not solve federated </a:t>
            </a:r>
            <a:r>
              <a:rPr b="1" lang="en" sz="1800">
                <a:solidFill>
                  <a:srgbClr val="000000"/>
                </a:solidFill>
              </a:rPr>
              <a:t>environment</a:t>
            </a:r>
            <a:r>
              <a:rPr b="1" lang="en" sz="1800">
                <a:solidFill>
                  <a:srgbClr val="000000"/>
                </a:solidFill>
              </a:rPr>
              <a:t>.</a:t>
            </a:r>
            <a:endParaRPr b="1" sz="18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3"/>
          <p:cNvSpPr/>
          <p:nvPr/>
        </p:nvSpPr>
        <p:spPr>
          <a:xfrm>
            <a:off x="457200" y="228600"/>
            <a:ext cx="82296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Critical Analysis: Gaps in Existing Work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3"/>
          <p:cNvSpPr/>
          <p:nvPr/>
        </p:nvSpPr>
        <p:spPr>
          <a:xfrm>
            <a:off x="457200" y="886968"/>
            <a:ext cx="1097400" cy="50400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23"/>
          <p:cNvSpPr/>
          <p:nvPr/>
        </p:nvSpPr>
        <p:spPr>
          <a:xfrm>
            <a:off x="457200" y="1097280"/>
            <a:ext cx="4114800" cy="1188600"/>
          </a:xfrm>
          <a:prstGeom prst="roundRect">
            <a:avLst>
              <a:gd fmla="val 7692" name="adj"/>
            </a:avLst>
          </a:prstGeom>
          <a:solidFill>
            <a:srgbClr val="132233"/>
          </a:solidFill>
          <a:ln cap="flat" cmpd="sng" w="9525">
            <a:solidFill>
              <a:srgbClr val="1B6CA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2700000" dist="381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23"/>
          <p:cNvSpPr/>
          <p:nvPr/>
        </p:nvSpPr>
        <p:spPr>
          <a:xfrm>
            <a:off x="548640" y="1188720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3"/>
          <p:cNvSpPr/>
          <p:nvPr/>
        </p:nvSpPr>
        <p:spPr>
          <a:xfrm>
            <a:off x="1115568" y="1188720"/>
            <a:ext cx="3291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" sz="1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Centralized Assumption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3"/>
          <p:cNvSpPr/>
          <p:nvPr/>
        </p:nvSpPr>
        <p:spPr>
          <a:xfrm>
            <a:off x="594360" y="1645920"/>
            <a:ext cx="3840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1050"/>
              <a:buFont typeface="Calibri"/>
              <a:buNone/>
            </a:pPr>
            <a:r>
              <a:rPr b="0" i="0" lang="en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Most UCC algorithms require full access to all data in one location — impossible in federated settings.</a:t>
            </a:r>
            <a:endParaRPr b="0" i="0" sz="14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3"/>
          <p:cNvSpPr/>
          <p:nvPr/>
        </p:nvSpPr>
        <p:spPr>
          <a:xfrm>
            <a:off x="457200" y="2395728"/>
            <a:ext cx="4114800" cy="1188600"/>
          </a:xfrm>
          <a:prstGeom prst="roundRect">
            <a:avLst>
              <a:gd fmla="val 7692" name="adj"/>
            </a:avLst>
          </a:prstGeom>
          <a:solidFill>
            <a:srgbClr val="132233"/>
          </a:solidFill>
          <a:ln cap="flat" cmpd="sng" w="9525">
            <a:solidFill>
              <a:srgbClr val="1B6CA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2700000" dist="381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23"/>
          <p:cNvSpPr/>
          <p:nvPr/>
        </p:nvSpPr>
        <p:spPr>
          <a:xfrm>
            <a:off x="548640" y="2487168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3"/>
          <p:cNvSpPr/>
          <p:nvPr/>
        </p:nvSpPr>
        <p:spPr>
          <a:xfrm>
            <a:off x="1115568" y="2487168"/>
            <a:ext cx="3291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" sz="1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Limited Federated Support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3"/>
          <p:cNvSpPr/>
          <p:nvPr/>
        </p:nvSpPr>
        <p:spPr>
          <a:xfrm>
            <a:off x="594360" y="2944368"/>
            <a:ext cx="3840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1050"/>
              <a:buFont typeface="Calibri"/>
              <a:buNone/>
            </a:pPr>
            <a:r>
              <a:rPr b="0" i="0" lang="en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Existing UCC methods do not address distributed data ownership or cross-</a:t>
            </a:r>
            <a:r>
              <a:rPr lang="en" sz="14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nodes</a:t>
            </a:r>
            <a:r>
              <a:rPr b="0" i="0" lang="en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data sharing.</a:t>
            </a:r>
            <a:endParaRPr b="0" i="0" sz="14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3"/>
          <p:cNvSpPr/>
          <p:nvPr/>
        </p:nvSpPr>
        <p:spPr>
          <a:xfrm>
            <a:off x="457200" y="3694176"/>
            <a:ext cx="4114800" cy="1188600"/>
          </a:xfrm>
          <a:prstGeom prst="roundRect">
            <a:avLst>
              <a:gd fmla="val 7692" name="adj"/>
            </a:avLst>
          </a:prstGeom>
          <a:solidFill>
            <a:srgbClr val="132233"/>
          </a:solidFill>
          <a:ln cap="flat" cmpd="sng" w="9525">
            <a:solidFill>
              <a:srgbClr val="1B6CA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2700000" dist="381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23"/>
          <p:cNvSpPr/>
          <p:nvPr/>
        </p:nvSpPr>
        <p:spPr>
          <a:xfrm>
            <a:off x="548640" y="3785616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3"/>
          <p:cNvSpPr/>
          <p:nvPr/>
        </p:nvSpPr>
        <p:spPr>
          <a:xfrm>
            <a:off x="1115568" y="3785616"/>
            <a:ext cx="3291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" sz="1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Communication Cost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3"/>
          <p:cNvSpPr/>
          <p:nvPr/>
        </p:nvSpPr>
        <p:spPr>
          <a:xfrm>
            <a:off x="594360" y="4242816"/>
            <a:ext cx="3840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1050"/>
              <a:buFont typeface="Calibri"/>
              <a:buNone/>
            </a:pPr>
            <a:r>
              <a:rPr b="0" i="0" lang="en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Sending raw data or large intermediate structures between nodes is expensive and often prohibited.</a:t>
            </a:r>
            <a:endParaRPr b="0" i="0" sz="14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3"/>
          <p:cNvSpPr/>
          <p:nvPr/>
        </p:nvSpPr>
        <p:spPr>
          <a:xfrm>
            <a:off x="4754880" y="1737360"/>
            <a:ext cx="4114800" cy="1188600"/>
          </a:xfrm>
          <a:prstGeom prst="roundRect">
            <a:avLst>
              <a:gd fmla="val 7692" name="adj"/>
            </a:avLst>
          </a:prstGeom>
          <a:solidFill>
            <a:srgbClr val="132233"/>
          </a:solidFill>
          <a:ln cap="flat" cmpd="sng" w="9525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2700000" dist="381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23"/>
          <p:cNvSpPr/>
          <p:nvPr/>
        </p:nvSpPr>
        <p:spPr>
          <a:xfrm>
            <a:off x="4846320" y="1828800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3"/>
          <p:cNvSpPr/>
          <p:nvPr/>
        </p:nvSpPr>
        <p:spPr>
          <a:xfrm>
            <a:off x="5413248" y="1828800"/>
            <a:ext cx="3291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" sz="1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Global Correctness Problem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3"/>
          <p:cNvSpPr/>
          <p:nvPr/>
        </p:nvSpPr>
        <p:spPr>
          <a:xfrm>
            <a:off x="4892040" y="2286000"/>
            <a:ext cx="3840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1050"/>
              <a:buFont typeface="Calibri"/>
              <a:buNone/>
            </a:pPr>
            <a:r>
              <a:rPr b="0" i="0" lang="en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column combination unique locally may be non-unique globally — this must be addressed explicitly.</a:t>
            </a:r>
            <a:endParaRPr b="0" i="0" sz="14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3"/>
          <p:cNvSpPr/>
          <p:nvPr/>
        </p:nvSpPr>
        <p:spPr>
          <a:xfrm>
            <a:off x="4754880" y="3035808"/>
            <a:ext cx="4114800" cy="1188600"/>
          </a:xfrm>
          <a:prstGeom prst="roundRect">
            <a:avLst>
              <a:gd fmla="val 7692" name="adj"/>
            </a:avLst>
          </a:prstGeom>
          <a:solidFill>
            <a:srgbClr val="132233"/>
          </a:solidFill>
          <a:ln cap="flat" cmpd="sng" w="9525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2700000" dist="381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23"/>
          <p:cNvSpPr/>
          <p:nvPr/>
        </p:nvSpPr>
        <p:spPr>
          <a:xfrm>
            <a:off x="4846320" y="3127248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3"/>
          <p:cNvSpPr/>
          <p:nvPr/>
        </p:nvSpPr>
        <p:spPr>
          <a:xfrm>
            <a:off x="5413248" y="3127248"/>
            <a:ext cx="3291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" sz="1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Parallelism + Federation Gap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3"/>
          <p:cNvSpPr/>
          <p:nvPr/>
        </p:nvSpPr>
        <p:spPr>
          <a:xfrm>
            <a:off x="4892040" y="3584448"/>
            <a:ext cx="3840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1050"/>
              <a:buFont typeface="Calibri"/>
              <a:buNone/>
            </a:pPr>
            <a:r>
              <a:rPr b="0" i="0" lang="en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Parallel and federated execution are typically treated independently, not as a combined system.</a:t>
            </a:r>
            <a:endParaRPr b="0" i="0" sz="14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24"/>
          <p:cNvSpPr/>
          <p:nvPr/>
        </p:nvSpPr>
        <p:spPr>
          <a:xfrm>
            <a:off x="357362" y="433800"/>
            <a:ext cx="4075800" cy="461400"/>
          </a:xfrm>
          <a:prstGeom prst="roundRect">
            <a:avLst>
              <a:gd fmla="val 17778" name="adj"/>
            </a:avLst>
          </a:prstGeom>
          <a:solidFill>
            <a:srgbClr val="E8F4FB"/>
          </a:solidFill>
          <a:ln cap="flat" cmpd="sng" w="9525">
            <a:solidFill>
              <a:srgbClr val="C5DC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4"/>
          <p:cNvSpPr/>
          <p:nvPr/>
        </p:nvSpPr>
        <p:spPr>
          <a:xfrm>
            <a:off x="357362" y="433800"/>
            <a:ext cx="40758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1300"/>
              <a:buFont typeface="Calibri"/>
              <a:buNone/>
            </a:pPr>
            <a:r>
              <a:rPr b="1" i="0" lang="en" sz="1800" u="none" cap="none" strike="noStrike">
                <a:solidFill>
                  <a:srgbClr val="1B6CA8"/>
                </a:solidFill>
                <a:latin typeface="Calibri"/>
                <a:ea typeface="Calibri"/>
                <a:cs typeface="Calibri"/>
                <a:sym typeface="Calibri"/>
              </a:rPr>
              <a:t>Existing Work</a:t>
            </a:r>
            <a:endParaRPr b="1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4"/>
          <p:cNvSpPr/>
          <p:nvPr/>
        </p:nvSpPr>
        <p:spPr>
          <a:xfrm>
            <a:off x="4664640" y="433800"/>
            <a:ext cx="4122000" cy="461400"/>
          </a:xfrm>
          <a:prstGeom prst="roundRect">
            <a:avLst>
              <a:gd fmla="val 17778" name="adj"/>
            </a:avLst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24"/>
          <p:cNvSpPr/>
          <p:nvPr/>
        </p:nvSpPr>
        <p:spPr>
          <a:xfrm>
            <a:off x="4664640" y="433800"/>
            <a:ext cx="41220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This Thesis</a:t>
            </a:r>
            <a:endParaRPr b="1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4"/>
          <p:cNvSpPr/>
          <p:nvPr/>
        </p:nvSpPr>
        <p:spPr>
          <a:xfrm>
            <a:off x="357362" y="1069514"/>
            <a:ext cx="4075800" cy="676800"/>
          </a:xfrm>
          <a:prstGeom prst="roundRect">
            <a:avLst>
              <a:gd fmla="val 12121" name="adj"/>
            </a:avLst>
          </a:prstGeom>
          <a:solidFill>
            <a:srgbClr val="FFFFFF"/>
          </a:solidFill>
          <a:ln cap="flat" cmpd="sng" w="9525">
            <a:solidFill>
              <a:srgbClr val="D0D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432" name="Google Shape;432;p24"/>
          <p:cNvSpPr/>
          <p:nvPr/>
        </p:nvSpPr>
        <p:spPr>
          <a:xfrm>
            <a:off x="496307" y="1110528"/>
            <a:ext cx="3798000" cy="5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58"/>
              </a:buClr>
              <a:buSzPts val="1100"/>
              <a:buFont typeface="Calibri"/>
              <a:buNone/>
            </a:pPr>
            <a:r>
              <a:rPr b="1" i="0" lang="en" u="none" cap="none" strike="noStrike">
                <a:latin typeface="Calibri"/>
                <a:ea typeface="Calibri"/>
                <a:cs typeface="Calibri"/>
                <a:sym typeface="Calibri"/>
              </a:rPr>
              <a:t>Centralized: all data in one place</a:t>
            </a:r>
            <a:endParaRPr b="1" i="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3" name="Google Shape;433;p24"/>
          <p:cNvCxnSpPr/>
          <p:nvPr/>
        </p:nvCxnSpPr>
        <p:spPr>
          <a:xfrm>
            <a:off x="4451592" y="1407878"/>
            <a:ext cx="185400" cy="0"/>
          </a:xfrm>
          <a:prstGeom prst="straightConnector1">
            <a:avLst/>
          </a:prstGeom>
          <a:noFill/>
          <a:ln cap="flat" cmpd="sng" w="254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4" name="Google Shape;434;p24"/>
          <p:cNvSpPr/>
          <p:nvPr/>
        </p:nvSpPr>
        <p:spPr>
          <a:xfrm>
            <a:off x="4664640" y="1069514"/>
            <a:ext cx="4122000" cy="676800"/>
          </a:xfrm>
          <a:prstGeom prst="roundRect">
            <a:avLst>
              <a:gd fmla="val 12121" name="adj"/>
            </a:avLst>
          </a:prstGeom>
          <a:solidFill>
            <a:srgbClr val="B6D7A8"/>
          </a:solidFill>
          <a:ln cap="flat" cmpd="sng" w="9525">
            <a:solidFill>
              <a:srgbClr val="C5DC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24"/>
          <p:cNvSpPr/>
          <p:nvPr/>
        </p:nvSpPr>
        <p:spPr>
          <a:xfrm>
            <a:off x="4803585" y="1110528"/>
            <a:ext cx="3844200" cy="5946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1100"/>
              <a:buFont typeface="Calibri"/>
              <a:buNone/>
            </a:pPr>
            <a:r>
              <a:rPr b="1" i="0" lang="en" u="none" cap="none" strike="noStrike">
                <a:latin typeface="Calibri"/>
                <a:ea typeface="Calibri"/>
                <a:cs typeface="Calibri"/>
                <a:sym typeface="Calibri"/>
              </a:rPr>
              <a:t>Federated: data stays distributed across nodes</a:t>
            </a:r>
            <a:endParaRPr b="0" i="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4"/>
          <p:cNvSpPr/>
          <p:nvPr/>
        </p:nvSpPr>
        <p:spPr>
          <a:xfrm>
            <a:off x="357362" y="1838522"/>
            <a:ext cx="4075800" cy="676800"/>
          </a:xfrm>
          <a:prstGeom prst="roundRect">
            <a:avLst>
              <a:gd fmla="val 12121" name="adj"/>
            </a:avLst>
          </a:prstGeom>
          <a:solidFill>
            <a:srgbClr val="FFFFFF"/>
          </a:solidFill>
          <a:ln cap="flat" cmpd="sng" w="9525">
            <a:solidFill>
              <a:srgbClr val="D0D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437" name="Google Shape;437;p24"/>
          <p:cNvSpPr/>
          <p:nvPr/>
        </p:nvSpPr>
        <p:spPr>
          <a:xfrm>
            <a:off x="496307" y="1879536"/>
            <a:ext cx="3798000" cy="5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58"/>
              </a:buClr>
              <a:buSzPts val="1100"/>
              <a:buFont typeface="Calibri"/>
              <a:buNone/>
            </a:pPr>
            <a:r>
              <a:rPr b="1" i="0" lang="en" u="none" cap="none" strike="noStrike">
                <a:latin typeface="Calibri"/>
                <a:ea typeface="Calibri"/>
                <a:cs typeface="Calibri"/>
                <a:sym typeface="Calibri"/>
              </a:rPr>
              <a:t>Full data access required by algorithm</a:t>
            </a:r>
            <a:endParaRPr b="1" i="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8" name="Google Shape;438;p24"/>
          <p:cNvCxnSpPr/>
          <p:nvPr/>
        </p:nvCxnSpPr>
        <p:spPr>
          <a:xfrm>
            <a:off x="4451592" y="2176886"/>
            <a:ext cx="185400" cy="0"/>
          </a:xfrm>
          <a:prstGeom prst="straightConnector1">
            <a:avLst/>
          </a:prstGeom>
          <a:noFill/>
          <a:ln cap="flat" cmpd="sng" w="254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9" name="Google Shape;439;p24"/>
          <p:cNvSpPr/>
          <p:nvPr/>
        </p:nvSpPr>
        <p:spPr>
          <a:xfrm>
            <a:off x="4664640" y="1838522"/>
            <a:ext cx="4122000" cy="676800"/>
          </a:xfrm>
          <a:prstGeom prst="roundRect">
            <a:avLst>
              <a:gd fmla="val 12121" name="adj"/>
            </a:avLst>
          </a:prstGeom>
          <a:solidFill>
            <a:srgbClr val="B6D7A8"/>
          </a:solidFill>
          <a:ln cap="flat" cmpd="sng" w="9525">
            <a:solidFill>
              <a:srgbClr val="C5DC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4"/>
          <p:cNvSpPr/>
          <p:nvPr/>
        </p:nvSpPr>
        <p:spPr>
          <a:xfrm>
            <a:off x="4803585" y="1879536"/>
            <a:ext cx="3844200" cy="5946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1100"/>
              <a:buFont typeface="Calibri"/>
              <a:buNone/>
            </a:pPr>
            <a:r>
              <a:rPr b="1" i="0" lang="en" u="none" cap="none" strike="noStrike">
                <a:latin typeface="Calibri"/>
                <a:ea typeface="Calibri"/>
                <a:cs typeface="Calibri"/>
                <a:sym typeface="Calibri"/>
              </a:rPr>
              <a:t>Local computation + central aggregation only</a:t>
            </a:r>
            <a:endParaRPr b="0" i="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4"/>
          <p:cNvSpPr/>
          <p:nvPr/>
        </p:nvSpPr>
        <p:spPr>
          <a:xfrm>
            <a:off x="357362" y="2607531"/>
            <a:ext cx="4075800" cy="676800"/>
          </a:xfrm>
          <a:prstGeom prst="roundRect">
            <a:avLst>
              <a:gd fmla="val 12121" name="adj"/>
            </a:avLst>
          </a:prstGeom>
          <a:solidFill>
            <a:srgbClr val="FFFFFF"/>
          </a:solidFill>
          <a:ln cap="flat" cmpd="sng" w="9525">
            <a:solidFill>
              <a:srgbClr val="D0D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442" name="Google Shape;442;p24"/>
          <p:cNvSpPr/>
          <p:nvPr/>
        </p:nvSpPr>
        <p:spPr>
          <a:xfrm>
            <a:off x="496307" y="2648545"/>
            <a:ext cx="3798000" cy="5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58"/>
              </a:buClr>
              <a:buSzPts val="1100"/>
              <a:buFont typeface="Calibri"/>
              <a:buNone/>
            </a:pPr>
            <a:r>
              <a:rPr b="1" i="0" lang="en" u="none" cap="none" strike="noStrike">
                <a:latin typeface="Calibri"/>
                <a:ea typeface="Calibri"/>
                <a:cs typeface="Calibri"/>
                <a:sym typeface="Calibri"/>
              </a:rPr>
              <a:t>Parallelism applied within single machines</a:t>
            </a:r>
            <a:endParaRPr b="1" i="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3" name="Google Shape;443;p24"/>
          <p:cNvCxnSpPr/>
          <p:nvPr/>
        </p:nvCxnSpPr>
        <p:spPr>
          <a:xfrm>
            <a:off x="4451592" y="2945895"/>
            <a:ext cx="185400" cy="0"/>
          </a:xfrm>
          <a:prstGeom prst="straightConnector1">
            <a:avLst/>
          </a:prstGeom>
          <a:noFill/>
          <a:ln cap="flat" cmpd="sng" w="254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4" name="Google Shape;444;p24"/>
          <p:cNvSpPr/>
          <p:nvPr/>
        </p:nvSpPr>
        <p:spPr>
          <a:xfrm>
            <a:off x="4664640" y="2607531"/>
            <a:ext cx="4122000" cy="676800"/>
          </a:xfrm>
          <a:prstGeom prst="roundRect">
            <a:avLst>
              <a:gd fmla="val 12121" name="adj"/>
            </a:avLst>
          </a:prstGeom>
          <a:solidFill>
            <a:srgbClr val="B6D7A8"/>
          </a:solidFill>
          <a:ln cap="flat" cmpd="sng" w="9525">
            <a:solidFill>
              <a:srgbClr val="C5DC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24"/>
          <p:cNvSpPr/>
          <p:nvPr/>
        </p:nvSpPr>
        <p:spPr>
          <a:xfrm>
            <a:off x="4803585" y="2648545"/>
            <a:ext cx="3844200" cy="5946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1100"/>
              <a:buFont typeface="Calibri"/>
              <a:buNone/>
            </a:pPr>
            <a:r>
              <a:rPr b="1" i="0" lang="en" u="none" cap="none" strike="noStrike">
                <a:latin typeface="Calibri"/>
                <a:ea typeface="Calibri"/>
                <a:cs typeface="Calibri"/>
                <a:sym typeface="Calibri"/>
              </a:rPr>
              <a:t>Parallelism across both nodes and within each node</a:t>
            </a:r>
            <a:endParaRPr b="0" i="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4"/>
          <p:cNvSpPr/>
          <p:nvPr/>
        </p:nvSpPr>
        <p:spPr>
          <a:xfrm>
            <a:off x="357362" y="3376540"/>
            <a:ext cx="4075800" cy="676800"/>
          </a:xfrm>
          <a:prstGeom prst="roundRect">
            <a:avLst>
              <a:gd fmla="val 12121" name="adj"/>
            </a:avLst>
          </a:prstGeom>
          <a:solidFill>
            <a:srgbClr val="FFFFFF"/>
          </a:solidFill>
          <a:ln cap="flat" cmpd="sng" w="9525">
            <a:solidFill>
              <a:srgbClr val="D0D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447" name="Google Shape;447;p24"/>
          <p:cNvSpPr/>
          <p:nvPr/>
        </p:nvSpPr>
        <p:spPr>
          <a:xfrm>
            <a:off x="496307" y="3417553"/>
            <a:ext cx="3798000" cy="5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58"/>
              </a:buClr>
              <a:buSzPts val="1100"/>
              <a:buFont typeface="Calibri"/>
              <a:buNone/>
            </a:pPr>
            <a:r>
              <a:rPr b="1" i="0" lang="en" u="none" cap="none" strike="noStrike">
                <a:latin typeface="Calibri"/>
                <a:ea typeface="Calibri"/>
                <a:cs typeface="Calibri"/>
                <a:sym typeface="Calibri"/>
              </a:rPr>
              <a:t>Communication cost not explicitly modeled</a:t>
            </a:r>
            <a:endParaRPr b="1" i="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8" name="Google Shape;448;p24"/>
          <p:cNvCxnSpPr/>
          <p:nvPr/>
        </p:nvCxnSpPr>
        <p:spPr>
          <a:xfrm>
            <a:off x="4451592" y="3714903"/>
            <a:ext cx="185400" cy="0"/>
          </a:xfrm>
          <a:prstGeom prst="straightConnector1">
            <a:avLst/>
          </a:prstGeom>
          <a:noFill/>
          <a:ln cap="flat" cmpd="sng" w="254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9" name="Google Shape;449;p24"/>
          <p:cNvSpPr/>
          <p:nvPr/>
        </p:nvSpPr>
        <p:spPr>
          <a:xfrm>
            <a:off x="4664640" y="3376540"/>
            <a:ext cx="4122000" cy="676800"/>
          </a:xfrm>
          <a:prstGeom prst="roundRect">
            <a:avLst>
              <a:gd fmla="val 12121" name="adj"/>
            </a:avLst>
          </a:prstGeom>
          <a:solidFill>
            <a:srgbClr val="B6D7A8"/>
          </a:solidFill>
          <a:ln cap="flat" cmpd="sng" w="9525">
            <a:solidFill>
              <a:srgbClr val="C5DC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24"/>
          <p:cNvSpPr/>
          <p:nvPr/>
        </p:nvSpPr>
        <p:spPr>
          <a:xfrm>
            <a:off x="4803585" y="3417553"/>
            <a:ext cx="3844200" cy="5946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1100"/>
              <a:buFont typeface="Calibri"/>
              <a:buNone/>
            </a:pPr>
            <a:r>
              <a:rPr b="1" i="0" lang="en" u="none" cap="none" strike="noStrike">
                <a:latin typeface="Calibri"/>
                <a:ea typeface="Calibri"/>
                <a:cs typeface="Calibri"/>
                <a:sym typeface="Calibri"/>
              </a:rPr>
              <a:t>Minimize communication as a first-class constraint</a:t>
            </a:r>
            <a:endParaRPr b="0" i="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4"/>
          <p:cNvSpPr/>
          <p:nvPr/>
        </p:nvSpPr>
        <p:spPr>
          <a:xfrm>
            <a:off x="357362" y="4145548"/>
            <a:ext cx="4075800" cy="676800"/>
          </a:xfrm>
          <a:prstGeom prst="roundRect">
            <a:avLst>
              <a:gd fmla="val 12121" name="adj"/>
            </a:avLst>
          </a:prstGeom>
          <a:solidFill>
            <a:srgbClr val="FFFFFF"/>
          </a:solidFill>
          <a:ln cap="flat" cmpd="sng" w="9525">
            <a:solidFill>
              <a:srgbClr val="D0D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452" name="Google Shape;452;p24"/>
          <p:cNvSpPr/>
          <p:nvPr/>
        </p:nvSpPr>
        <p:spPr>
          <a:xfrm>
            <a:off x="496307" y="4186562"/>
            <a:ext cx="3798000" cy="5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58"/>
              </a:buClr>
              <a:buSzPts val="1100"/>
              <a:buFont typeface="Calibri"/>
              <a:buNone/>
            </a:pPr>
            <a:r>
              <a:rPr b="1" i="0" lang="en" u="none" cap="none" strike="noStrike">
                <a:latin typeface="Calibri"/>
                <a:ea typeface="Calibri"/>
                <a:cs typeface="Calibri"/>
                <a:sym typeface="Calibri"/>
              </a:rPr>
              <a:t>Federation and parallelism treated separately</a:t>
            </a:r>
            <a:endParaRPr b="1" i="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3" name="Google Shape;453;p24"/>
          <p:cNvCxnSpPr/>
          <p:nvPr/>
        </p:nvCxnSpPr>
        <p:spPr>
          <a:xfrm>
            <a:off x="4451592" y="4483912"/>
            <a:ext cx="185400" cy="0"/>
          </a:xfrm>
          <a:prstGeom prst="straightConnector1">
            <a:avLst/>
          </a:prstGeom>
          <a:noFill/>
          <a:ln cap="flat" cmpd="sng" w="254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4" name="Google Shape;454;p24"/>
          <p:cNvSpPr/>
          <p:nvPr/>
        </p:nvSpPr>
        <p:spPr>
          <a:xfrm>
            <a:off x="4664640" y="4145548"/>
            <a:ext cx="4122000" cy="676800"/>
          </a:xfrm>
          <a:prstGeom prst="roundRect">
            <a:avLst>
              <a:gd fmla="val 12121" name="adj"/>
            </a:avLst>
          </a:prstGeom>
          <a:solidFill>
            <a:srgbClr val="B6D7A8"/>
          </a:solidFill>
          <a:ln cap="flat" cmpd="sng" w="9525">
            <a:solidFill>
              <a:srgbClr val="C5DC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24"/>
          <p:cNvSpPr/>
          <p:nvPr/>
        </p:nvSpPr>
        <p:spPr>
          <a:xfrm>
            <a:off x="4803585" y="4186562"/>
            <a:ext cx="3844200" cy="5946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1100"/>
              <a:buFont typeface="Calibri"/>
              <a:buNone/>
            </a:pPr>
            <a:r>
              <a:rPr b="1" i="0" lang="en" u="none" cap="none" strike="noStrike">
                <a:latin typeface="Calibri"/>
                <a:ea typeface="Calibri"/>
                <a:cs typeface="Calibri"/>
                <a:sym typeface="Calibri"/>
              </a:rPr>
              <a:t>Combined federated-parallel UCC discovery framework</a:t>
            </a:r>
            <a:endParaRPr b="0" i="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5"/>
          <p:cNvSpPr txBox="1"/>
          <p:nvPr/>
        </p:nvSpPr>
        <p:spPr>
          <a:xfrm>
            <a:off x="4176891" y="2757088"/>
            <a:ext cx="143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Urbanist"/>
                <a:ea typeface="Urbanist"/>
                <a:cs typeface="Urbanist"/>
                <a:sym typeface="Urbanist"/>
              </a:rPr>
              <a:t>implement</a:t>
            </a:r>
            <a:endParaRPr b="1" sz="1200"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1" name="Google Shape;461;p25"/>
          <p:cNvSpPr/>
          <p:nvPr/>
        </p:nvSpPr>
        <p:spPr>
          <a:xfrm>
            <a:off x="2387401" y="2238466"/>
            <a:ext cx="1651800" cy="749100"/>
          </a:xfrm>
          <a:prstGeom prst="roundRect">
            <a:avLst>
              <a:gd fmla="val 16667" name="adj"/>
            </a:avLst>
          </a:prstGeom>
          <a:solidFill>
            <a:srgbClr val="F7F9FC"/>
          </a:solidFill>
          <a:ln cap="flat" cmpd="sng" w="9525">
            <a:solidFill>
              <a:srgbClr val="D6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25"/>
          <p:cNvSpPr/>
          <p:nvPr/>
        </p:nvSpPr>
        <p:spPr>
          <a:xfrm>
            <a:off x="2589797" y="2255262"/>
            <a:ext cx="1651800" cy="73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E69138"/>
                </a:solidFill>
                <a:latin typeface="Maven Pro"/>
                <a:ea typeface="Maven Pro"/>
                <a:cs typeface="Maven Pro"/>
                <a:sym typeface="Maven Pro"/>
              </a:rPr>
              <a:t>Server</a:t>
            </a:r>
            <a:endParaRPr i="0" sz="1900" u="none" cap="none" strike="noStrike">
              <a:solidFill>
                <a:srgbClr val="000000"/>
              </a:solidFill>
              <a:latin typeface="Nunito Black"/>
              <a:ea typeface="Nunito Black"/>
              <a:cs typeface="Nunito Black"/>
              <a:sym typeface="Nunito Black"/>
            </a:endParaRPr>
          </a:p>
        </p:txBody>
      </p:sp>
      <p:cxnSp>
        <p:nvCxnSpPr>
          <p:cNvPr id="463" name="Google Shape;463;p25"/>
          <p:cNvCxnSpPr/>
          <p:nvPr/>
        </p:nvCxnSpPr>
        <p:spPr>
          <a:xfrm>
            <a:off x="4072181" y="2806062"/>
            <a:ext cx="1502400" cy="0"/>
          </a:xfrm>
          <a:prstGeom prst="straightConnector1">
            <a:avLst/>
          </a:prstGeom>
          <a:noFill/>
          <a:ln cap="flat" cmpd="sng" w="28575">
            <a:solidFill>
              <a:srgbClr val="6B728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64" name="Google Shape;464;p2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69138"/>
                </a:solidFill>
              </a:rPr>
              <a:t>Framework</a:t>
            </a:r>
            <a:endParaRPr b="0" sz="2100">
              <a:solidFill>
                <a:srgbClr val="38761D"/>
              </a:solidFill>
            </a:endParaRPr>
          </a:p>
        </p:txBody>
      </p:sp>
      <p:sp>
        <p:nvSpPr>
          <p:cNvPr id="465" name="Google Shape;465;p25"/>
          <p:cNvSpPr/>
          <p:nvPr/>
        </p:nvSpPr>
        <p:spPr>
          <a:xfrm>
            <a:off x="5607557" y="2238460"/>
            <a:ext cx="2637000" cy="749100"/>
          </a:xfrm>
          <a:prstGeom prst="roundRect">
            <a:avLst>
              <a:gd fmla="val 16667" name="adj"/>
            </a:avLst>
          </a:prstGeom>
          <a:solidFill>
            <a:srgbClr val="F7F9FC"/>
          </a:solidFill>
          <a:ln cap="flat" cmpd="sng" w="9525">
            <a:solidFill>
              <a:srgbClr val="D6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25"/>
          <p:cNvSpPr/>
          <p:nvPr/>
        </p:nvSpPr>
        <p:spPr>
          <a:xfrm>
            <a:off x="5809962" y="2258685"/>
            <a:ext cx="2617500" cy="73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6AA84F"/>
                </a:solidFill>
                <a:latin typeface="Maven Pro"/>
                <a:ea typeface="Maven Pro"/>
                <a:cs typeface="Maven Pro"/>
                <a:sym typeface="Maven Pro"/>
              </a:rPr>
              <a:t>Aggregation</a:t>
            </a:r>
            <a:endParaRPr i="0" sz="1900" u="none" cap="none" strike="noStrike">
              <a:solidFill>
                <a:srgbClr val="6AA84F"/>
              </a:solidFill>
              <a:latin typeface="Nunito Black"/>
              <a:ea typeface="Nunito Black"/>
              <a:cs typeface="Nunito Black"/>
              <a:sym typeface="Nunito Black"/>
            </a:endParaRPr>
          </a:p>
        </p:txBody>
      </p:sp>
      <p:sp>
        <p:nvSpPr>
          <p:cNvPr id="467" name="Google Shape;467;p25"/>
          <p:cNvSpPr/>
          <p:nvPr/>
        </p:nvSpPr>
        <p:spPr>
          <a:xfrm>
            <a:off x="710098" y="1761951"/>
            <a:ext cx="871500" cy="395100"/>
          </a:xfrm>
          <a:prstGeom prst="roundRect">
            <a:avLst>
              <a:gd fmla="val 16667" name="adj"/>
            </a:avLst>
          </a:prstGeom>
          <a:solidFill>
            <a:srgbClr val="F7F9FC"/>
          </a:solidFill>
          <a:ln cap="flat" cmpd="sng" w="5025">
            <a:solidFill>
              <a:srgbClr val="D6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175" lIns="36175" spcFirstLastPara="1" rIns="36175" wrap="square" tIns="3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39"/>
          </a:p>
        </p:txBody>
      </p:sp>
      <p:sp>
        <p:nvSpPr>
          <p:cNvPr id="468" name="Google Shape;468;p25"/>
          <p:cNvSpPr/>
          <p:nvPr/>
        </p:nvSpPr>
        <p:spPr>
          <a:xfrm>
            <a:off x="710096" y="1761949"/>
            <a:ext cx="871500" cy="3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100" lIns="36175" spcFirstLastPara="1" rIns="36175" wrap="square" tIns="1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2">
                <a:solidFill>
                  <a:srgbClr val="3C78D8"/>
                </a:solidFill>
                <a:latin typeface="Nunito Black"/>
                <a:ea typeface="Nunito Black"/>
                <a:cs typeface="Nunito Black"/>
                <a:sym typeface="Nunito Black"/>
              </a:rPr>
              <a:t> Client </a:t>
            </a:r>
            <a:r>
              <a:rPr lang="en" sz="1002">
                <a:solidFill>
                  <a:schemeClr val="dk2"/>
                </a:solidFill>
                <a:latin typeface="Nunito Black"/>
                <a:ea typeface="Nunito Black"/>
                <a:cs typeface="Nunito Black"/>
                <a:sym typeface="Nunito Black"/>
              </a:rPr>
              <a:t>Node</a:t>
            </a:r>
            <a:endParaRPr i="0" sz="1002" u="none" cap="none" strike="noStrike">
              <a:solidFill>
                <a:srgbClr val="000000"/>
              </a:solidFill>
              <a:latin typeface="Nunito Black"/>
              <a:ea typeface="Nunito Black"/>
              <a:cs typeface="Nunito Black"/>
              <a:sym typeface="Nunito Black"/>
            </a:endParaRPr>
          </a:p>
        </p:txBody>
      </p:sp>
      <p:sp>
        <p:nvSpPr>
          <p:cNvPr id="469" name="Google Shape;469;p25"/>
          <p:cNvSpPr/>
          <p:nvPr/>
        </p:nvSpPr>
        <p:spPr>
          <a:xfrm>
            <a:off x="710098" y="2363526"/>
            <a:ext cx="871500" cy="395100"/>
          </a:xfrm>
          <a:prstGeom prst="roundRect">
            <a:avLst>
              <a:gd fmla="val 16667" name="adj"/>
            </a:avLst>
          </a:prstGeom>
          <a:solidFill>
            <a:srgbClr val="F7F9FC"/>
          </a:solidFill>
          <a:ln cap="flat" cmpd="sng" w="5025">
            <a:solidFill>
              <a:srgbClr val="D6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175" lIns="36175" spcFirstLastPara="1" rIns="36175" wrap="square" tIns="3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39"/>
          </a:p>
        </p:txBody>
      </p:sp>
      <p:sp>
        <p:nvSpPr>
          <p:cNvPr id="470" name="Google Shape;470;p25"/>
          <p:cNvSpPr/>
          <p:nvPr/>
        </p:nvSpPr>
        <p:spPr>
          <a:xfrm>
            <a:off x="710096" y="2363524"/>
            <a:ext cx="871500" cy="3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100" lIns="36175" spcFirstLastPara="1" rIns="36175" wrap="square" tIns="1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2">
                <a:solidFill>
                  <a:srgbClr val="3C78D8"/>
                </a:solidFill>
                <a:latin typeface="Nunito Black"/>
                <a:ea typeface="Nunito Black"/>
                <a:cs typeface="Nunito Black"/>
                <a:sym typeface="Nunito Black"/>
              </a:rPr>
              <a:t> Client </a:t>
            </a:r>
            <a:r>
              <a:rPr lang="en" sz="1002">
                <a:solidFill>
                  <a:schemeClr val="dk2"/>
                </a:solidFill>
                <a:latin typeface="Nunito Black"/>
                <a:ea typeface="Nunito Black"/>
                <a:cs typeface="Nunito Black"/>
                <a:sym typeface="Nunito Black"/>
              </a:rPr>
              <a:t>Node</a:t>
            </a:r>
            <a:endParaRPr i="0" sz="1002" u="none" cap="none" strike="noStrike">
              <a:solidFill>
                <a:srgbClr val="000000"/>
              </a:solidFill>
              <a:latin typeface="Nunito Black"/>
              <a:ea typeface="Nunito Black"/>
              <a:cs typeface="Nunito Black"/>
              <a:sym typeface="Nunito Black"/>
            </a:endParaRPr>
          </a:p>
        </p:txBody>
      </p:sp>
      <p:sp>
        <p:nvSpPr>
          <p:cNvPr id="471" name="Google Shape;471;p25"/>
          <p:cNvSpPr/>
          <p:nvPr/>
        </p:nvSpPr>
        <p:spPr>
          <a:xfrm>
            <a:off x="692923" y="2965101"/>
            <a:ext cx="871500" cy="395100"/>
          </a:xfrm>
          <a:prstGeom prst="roundRect">
            <a:avLst>
              <a:gd fmla="val 16667" name="adj"/>
            </a:avLst>
          </a:prstGeom>
          <a:solidFill>
            <a:srgbClr val="F7F9FC"/>
          </a:solidFill>
          <a:ln cap="flat" cmpd="sng" w="5025">
            <a:solidFill>
              <a:srgbClr val="D6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175" lIns="36175" spcFirstLastPara="1" rIns="36175" wrap="square" tIns="3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39"/>
          </a:p>
        </p:txBody>
      </p:sp>
      <p:sp>
        <p:nvSpPr>
          <p:cNvPr id="472" name="Google Shape;472;p25"/>
          <p:cNvSpPr/>
          <p:nvPr/>
        </p:nvSpPr>
        <p:spPr>
          <a:xfrm>
            <a:off x="692921" y="2965099"/>
            <a:ext cx="871500" cy="3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100" lIns="36175" spcFirstLastPara="1" rIns="36175" wrap="square" tIns="1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2">
                <a:solidFill>
                  <a:srgbClr val="3C78D8"/>
                </a:solidFill>
                <a:latin typeface="Nunito Black"/>
                <a:ea typeface="Nunito Black"/>
                <a:cs typeface="Nunito Black"/>
                <a:sym typeface="Nunito Black"/>
              </a:rPr>
              <a:t> Client </a:t>
            </a:r>
            <a:r>
              <a:rPr lang="en" sz="1002">
                <a:solidFill>
                  <a:schemeClr val="dk2"/>
                </a:solidFill>
                <a:latin typeface="Nunito Black"/>
                <a:ea typeface="Nunito Black"/>
                <a:cs typeface="Nunito Black"/>
                <a:sym typeface="Nunito Black"/>
              </a:rPr>
              <a:t>Node</a:t>
            </a:r>
            <a:endParaRPr i="0" sz="1002" u="none" cap="none" strike="noStrike">
              <a:solidFill>
                <a:srgbClr val="000000"/>
              </a:solidFill>
              <a:latin typeface="Nunito Black"/>
              <a:ea typeface="Nunito Black"/>
              <a:cs typeface="Nunito Black"/>
              <a:sym typeface="Nunito Black"/>
            </a:endParaRPr>
          </a:p>
        </p:txBody>
      </p:sp>
      <p:sp>
        <p:nvSpPr>
          <p:cNvPr id="473" name="Google Shape;473;p25"/>
          <p:cNvSpPr/>
          <p:nvPr/>
        </p:nvSpPr>
        <p:spPr>
          <a:xfrm>
            <a:off x="701510" y="3558276"/>
            <a:ext cx="871500" cy="395100"/>
          </a:xfrm>
          <a:prstGeom prst="roundRect">
            <a:avLst>
              <a:gd fmla="val 16667" name="adj"/>
            </a:avLst>
          </a:prstGeom>
          <a:solidFill>
            <a:srgbClr val="F7F9FC"/>
          </a:solidFill>
          <a:ln cap="flat" cmpd="sng" w="5025">
            <a:solidFill>
              <a:srgbClr val="D6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175" lIns="36175" spcFirstLastPara="1" rIns="36175" wrap="square" tIns="3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39"/>
          </a:p>
        </p:txBody>
      </p:sp>
      <p:sp>
        <p:nvSpPr>
          <p:cNvPr id="474" name="Google Shape;474;p25"/>
          <p:cNvSpPr/>
          <p:nvPr/>
        </p:nvSpPr>
        <p:spPr>
          <a:xfrm>
            <a:off x="701508" y="3558274"/>
            <a:ext cx="871500" cy="3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100" lIns="36175" spcFirstLastPara="1" rIns="36175" wrap="square" tIns="1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2">
                <a:solidFill>
                  <a:srgbClr val="3C78D8"/>
                </a:solidFill>
                <a:latin typeface="Nunito Black"/>
                <a:ea typeface="Nunito Black"/>
                <a:cs typeface="Nunito Black"/>
                <a:sym typeface="Nunito Black"/>
              </a:rPr>
              <a:t> Client </a:t>
            </a:r>
            <a:r>
              <a:rPr lang="en" sz="1002">
                <a:solidFill>
                  <a:schemeClr val="dk2"/>
                </a:solidFill>
                <a:latin typeface="Nunito Black"/>
                <a:ea typeface="Nunito Black"/>
                <a:cs typeface="Nunito Black"/>
                <a:sym typeface="Nunito Black"/>
              </a:rPr>
              <a:t>Node</a:t>
            </a:r>
            <a:endParaRPr i="0" sz="1002" u="none" cap="none" strike="noStrike">
              <a:solidFill>
                <a:srgbClr val="000000"/>
              </a:solidFill>
              <a:latin typeface="Nunito Black"/>
              <a:ea typeface="Nunito Black"/>
              <a:cs typeface="Nunito Black"/>
              <a:sym typeface="Nunito Black"/>
            </a:endParaRPr>
          </a:p>
        </p:txBody>
      </p:sp>
      <p:sp>
        <p:nvSpPr>
          <p:cNvPr id="475" name="Google Shape;475;p25"/>
          <p:cNvSpPr/>
          <p:nvPr/>
        </p:nvSpPr>
        <p:spPr>
          <a:xfrm>
            <a:off x="1044270" y="3996452"/>
            <a:ext cx="408600" cy="90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100" lIns="36175" spcFirstLastPara="1" rIns="36175" wrap="square" tIns="1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2">
                <a:solidFill>
                  <a:srgbClr val="3C78D8"/>
                </a:solidFill>
                <a:latin typeface="Nunito Black"/>
                <a:ea typeface="Nunito Black"/>
                <a:cs typeface="Nunito Black"/>
                <a:sym typeface="Nunito Black"/>
              </a:rPr>
              <a:t>.</a:t>
            </a:r>
            <a:endParaRPr sz="1002">
              <a:solidFill>
                <a:srgbClr val="3C78D8"/>
              </a:solidFill>
              <a:latin typeface="Nunito Black"/>
              <a:ea typeface="Nunito Black"/>
              <a:cs typeface="Nunito Black"/>
              <a:sym typeface="Nunit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2">
                <a:solidFill>
                  <a:srgbClr val="3C78D8"/>
                </a:solidFill>
                <a:latin typeface="Nunito Black"/>
                <a:ea typeface="Nunito Black"/>
                <a:cs typeface="Nunito Black"/>
                <a:sym typeface="Nunito Black"/>
              </a:rPr>
              <a:t>.</a:t>
            </a:r>
            <a:endParaRPr sz="1002">
              <a:solidFill>
                <a:srgbClr val="3C78D8"/>
              </a:solidFill>
              <a:latin typeface="Nunito Black"/>
              <a:ea typeface="Nunito Black"/>
              <a:cs typeface="Nunito Black"/>
              <a:sym typeface="Nunit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2">
                <a:solidFill>
                  <a:srgbClr val="3C78D8"/>
                </a:solidFill>
                <a:latin typeface="Nunito Black"/>
                <a:ea typeface="Nunito Black"/>
                <a:cs typeface="Nunito Black"/>
                <a:sym typeface="Nunito Black"/>
              </a:rPr>
              <a:t>.</a:t>
            </a:r>
            <a:endParaRPr sz="1002">
              <a:solidFill>
                <a:srgbClr val="3C78D8"/>
              </a:solidFill>
              <a:latin typeface="Nunito Black"/>
              <a:ea typeface="Nunito Black"/>
              <a:cs typeface="Nunito Black"/>
              <a:sym typeface="Nunit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2">
                <a:solidFill>
                  <a:srgbClr val="3C78D8"/>
                </a:solidFill>
                <a:latin typeface="Nunito Black"/>
                <a:ea typeface="Nunito Black"/>
                <a:cs typeface="Nunito Black"/>
                <a:sym typeface="Nunito Black"/>
              </a:rPr>
              <a:t>.</a:t>
            </a:r>
            <a:endParaRPr sz="1002">
              <a:solidFill>
                <a:srgbClr val="3C78D8"/>
              </a:solidFill>
              <a:latin typeface="Nunito Black"/>
              <a:ea typeface="Nunito Black"/>
              <a:cs typeface="Nunito Black"/>
              <a:sym typeface="Nunit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2">
                <a:solidFill>
                  <a:srgbClr val="3C78D8"/>
                </a:solidFill>
                <a:latin typeface="Nunito Black"/>
                <a:ea typeface="Nunito Black"/>
                <a:cs typeface="Nunito Black"/>
                <a:sym typeface="Nunito Black"/>
              </a:rPr>
              <a:t>.</a:t>
            </a:r>
            <a:endParaRPr sz="1002">
              <a:solidFill>
                <a:srgbClr val="3C78D8"/>
              </a:solidFill>
              <a:latin typeface="Nunito Black"/>
              <a:ea typeface="Nunito Black"/>
              <a:cs typeface="Nunito Black"/>
              <a:sym typeface="Nunit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2">
                <a:solidFill>
                  <a:srgbClr val="3C78D8"/>
                </a:solidFill>
                <a:latin typeface="Nunito Black"/>
                <a:ea typeface="Nunito Black"/>
                <a:cs typeface="Nunito Black"/>
                <a:sym typeface="Nunito Black"/>
              </a:rPr>
              <a:t>n</a:t>
            </a:r>
            <a:endParaRPr sz="1002">
              <a:solidFill>
                <a:srgbClr val="3C78D8"/>
              </a:solidFill>
              <a:latin typeface="Nunito Black"/>
              <a:ea typeface="Nunito Black"/>
              <a:cs typeface="Nunito Black"/>
              <a:sym typeface="Nunito Black"/>
            </a:endParaRPr>
          </a:p>
        </p:txBody>
      </p:sp>
      <p:cxnSp>
        <p:nvCxnSpPr>
          <p:cNvPr id="476" name="Google Shape;476;p25"/>
          <p:cNvCxnSpPr/>
          <p:nvPr/>
        </p:nvCxnSpPr>
        <p:spPr>
          <a:xfrm>
            <a:off x="1685015" y="1995434"/>
            <a:ext cx="483600" cy="219600"/>
          </a:xfrm>
          <a:prstGeom prst="straightConnector1">
            <a:avLst/>
          </a:prstGeom>
          <a:noFill/>
          <a:ln cap="flat" cmpd="sng" w="28575">
            <a:solidFill>
              <a:srgbClr val="6B728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77" name="Google Shape;477;p25"/>
          <p:cNvCxnSpPr/>
          <p:nvPr/>
        </p:nvCxnSpPr>
        <p:spPr>
          <a:xfrm>
            <a:off x="1651427" y="2498059"/>
            <a:ext cx="489000" cy="15000"/>
          </a:xfrm>
          <a:prstGeom prst="straightConnector1">
            <a:avLst/>
          </a:prstGeom>
          <a:noFill/>
          <a:ln cap="flat" cmpd="sng" w="28575">
            <a:solidFill>
              <a:srgbClr val="6B728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78" name="Google Shape;478;p25"/>
          <p:cNvCxnSpPr/>
          <p:nvPr/>
        </p:nvCxnSpPr>
        <p:spPr>
          <a:xfrm flipH="1" rot="10800000">
            <a:off x="1685015" y="2767634"/>
            <a:ext cx="420000" cy="235200"/>
          </a:xfrm>
          <a:prstGeom prst="straightConnector1">
            <a:avLst/>
          </a:prstGeom>
          <a:noFill/>
          <a:ln cap="flat" cmpd="sng" w="28575">
            <a:solidFill>
              <a:srgbClr val="6B728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79" name="Google Shape;479;p25"/>
          <p:cNvCxnSpPr/>
          <p:nvPr/>
        </p:nvCxnSpPr>
        <p:spPr>
          <a:xfrm flipH="1" rot="10800000">
            <a:off x="1633415" y="3006109"/>
            <a:ext cx="511200" cy="647400"/>
          </a:xfrm>
          <a:prstGeom prst="straightConnector1">
            <a:avLst/>
          </a:prstGeom>
          <a:noFill/>
          <a:ln cap="flat" cmpd="sng" w="28575">
            <a:solidFill>
              <a:srgbClr val="6B728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80" name="Google Shape;480;p25"/>
          <p:cNvSpPr/>
          <p:nvPr/>
        </p:nvSpPr>
        <p:spPr>
          <a:xfrm>
            <a:off x="5491782" y="3839810"/>
            <a:ext cx="2637000" cy="749100"/>
          </a:xfrm>
          <a:prstGeom prst="roundRect">
            <a:avLst>
              <a:gd fmla="val 16667" name="adj"/>
            </a:avLst>
          </a:prstGeom>
          <a:solidFill>
            <a:srgbClr val="F7F9FC"/>
          </a:solidFill>
          <a:ln cap="flat" cmpd="sng" w="9525">
            <a:solidFill>
              <a:srgbClr val="D6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25"/>
          <p:cNvSpPr/>
          <p:nvPr/>
        </p:nvSpPr>
        <p:spPr>
          <a:xfrm>
            <a:off x="5694187" y="3860035"/>
            <a:ext cx="2617500" cy="73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3C78D8"/>
                </a:solidFill>
                <a:latin typeface="Nunito"/>
                <a:ea typeface="Nunito"/>
                <a:cs typeface="Nunito"/>
                <a:sym typeface="Nunito"/>
              </a:rPr>
              <a:t>Global UCCs</a:t>
            </a:r>
            <a:endParaRPr b="1" i="0" sz="1900" u="none" cap="none" strike="noStrike">
              <a:solidFill>
                <a:srgbClr val="3C78D8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82" name="Google Shape;482;p25"/>
          <p:cNvSpPr txBox="1"/>
          <p:nvPr/>
        </p:nvSpPr>
        <p:spPr>
          <a:xfrm>
            <a:off x="5911756" y="3145289"/>
            <a:ext cx="131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Urbanist"/>
                <a:ea typeface="Urbanist"/>
                <a:cs typeface="Urbanist"/>
                <a:sym typeface="Urbanist"/>
              </a:rPr>
              <a:t>compute</a:t>
            </a:r>
            <a:endParaRPr b="1" sz="1200"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483" name="Google Shape;483;p25"/>
          <p:cNvCxnSpPr/>
          <p:nvPr/>
        </p:nvCxnSpPr>
        <p:spPr>
          <a:xfrm>
            <a:off x="5752195" y="3089689"/>
            <a:ext cx="0" cy="648000"/>
          </a:xfrm>
          <a:prstGeom prst="straightConnector1">
            <a:avLst/>
          </a:prstGeom>
          <a:noFill/>
          <a:ln cap="flat" cmpd="sng" w="28575">
            <a:solidFill>
              <a:srgbClr val="6B728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84" name="Google Shape;484;p25"/>
          <p:cNvSpPr/>
          <p:nvPr/>
        </p:nvSpPr>
        <p:spPr>
          <a:xfrm>
            <a:off x="7035723" y="1412301"/>
            <a:ext cx="871500" cy="395100"/>
          </a:xfrm>
          <a:prstGeom prst="roundRect">
            <a:avLst>
              <a:gd fmla="val 16667" name="adj"/>
            </a:avLst>
          </a:prstGeom>
          <a:solidFill>
            <a:srgbClr val="F7F9FC"/>
          </a:solidFill>
          <a:ln cap="flat" cmpd="sng" w="5025">
            <a:solidFill>
              <a:srgbClr val="D6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175" lIns="36175" spcFirstLastPara="1" rIns="36175" wrap="square" tIns="3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39"/>
          </a:p>
        </p:txBody>
      </p:sp>
      <p:sp>
        <p:nvSpPr>
          <p:cNvPr id="485" name="Google Shape;485;p25"/>
          <p:cNvSpPr/>
          <p:nvPr/>
        </p:nvSpPr>
        <p:spPr>
          <a:xfrm>
            <a:off x="7035721" y="1412299"/>
            <a:ext cx="871500" cy="3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100" lIns="36175" spcFirstLastPara="1" rIns="36175" wrap="square" tIns="1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2">
                <a:solidFill>
                  <a:srgbClr val="3C78D8"/>
                </a:solidFill>
                <a:latin typeface="Nunito Black"/>
                <a:ea typeface="Nunito Black"/>
                <a:cs typeface="Nunito Black"/>
                <a:sym typeface="Nunito Black"/>
              </a:rPr>
              <a:t> Core </a:t>
            </a:r>
            <a:r>
              <a:rPr lang="en" sz="1002">
                <a:solidFill>
                  <a:schemeClr val="dk2"/>
                </a:solidFill>
                <a:latin typeface="Nunito Black"/>
                <a:ea typeface="Nunito Black"/>
                <a:cs typeface="Nunito Black"/>
                <a:sym typeface="Nunito Black"/>
              </a:rPr>
              <a:t>Node</a:t>
            </a:r>
            <a:endParaRPr i="0" sz="1002" u="none" cap="none" strike="noStrike">
              <a:solidFill>
                <a:srgbClr val="000000"/>
              </a:solidFill>
              <a:latin typeface="Nunito Black"/>
              <a:ea typeface="Nunito Black"/>
              <a:cs typeface="Nunito Black"/>
              <a:sym typeface="Nunito Black"/>
            </a:endParaRPr>
          </a:p>
        </p:txBody>
      </p:sp>
      <p:sp>
        <p:nvSpPr>
          <p:cNvPr id="486" name="Google Shape;486;p25"/>
          <p:cNvSpPr/>
          <p:nvPr/>
        </p:nvSpPr>
        <p:spPr>
          <a:xfrm>
            <a:off x="8128785" y="1416501"/>
            <a:ext cx="871500" cy="395100"/>
          </a:xfrm>
          <a:prstGeom prst="roundRect">
            <a:avLst>
              <a:gd fmla="val 16667" name="adj"/>
            </a:avLst>
          </a:prstGeom>
          <a:solidFill>
            <a:srgbClr val="F7F9FC"/>
          </a:solidFill>
          <a:ln cap="flat" cmpd="sng" w="5025">
            <a:solidFill>
              <a:srgbClr val="D6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175" lIns="36175" spcFirstLastPara="1" rIns="36175" wrap="square" tIns="3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39"/>
          </a:p>
        </p:txBody>
      </p:sp>
      <p:sp>
        <p:nvSpPr>
          <p:cNvPr id="487" name="Google Shape;487;p25"/>
          <p:cNvSpPr/>
          <p:nvPr/>
        </p:nvSpPr>
        <p:spPr>
          <a:xfrm>
            <a:off x="8128783" y="1416499"/>
            <a:ext cx="871500" cy="3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100" lIns="36175" spcFirstLastPara="1" rIns="36175" wrap="square" tIns="1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2">
                <a:solidFill>
                  <a:srgbClr val="3C78D8"/>
                </a:solidFill>
                <a:latin typeface="Nunito Black"/>
                <a:ea typeface="Nunito Black"/>
                <a:cs typeface="Nunito Black"/>
                <a:sym typeface="Nunito Black"/>
              </a:rPr>
              <a:t> Core </a:t>
            </a:r>
            <a:r>
              <a:rPr lang="en" sz="1002">
                <a:solidFill>
                  <a:schemeClr val="dk2"/>
                </a:solidFill>
                <a:latin typeface="Nunito Black"/>
                <a:ea typeface="Nunito Black"/>
                <a:cs typeface="Nunito Black"/>
                <a:sym typeface="Nunito Black"/>
              </a:rPr>
              <a:t>Node</a:t>
            </a:r>
            <a:endParaRPr i="0" sz="1002" u="none" cap="none" strike="noStrike">
              <a:solidFill>
                <a:srgbClr val="000000"/>
              </a:solidFill>
              <a:latin typeface="Nunito Black"/>
              <a:ea typeface="Nunito Black"/>
              <a:cs typeface="Nunito Black"/>
              <a:sym typeface="Nunito Black"/>
            </a:endParaRPr>
          </a:p>
        </p:txBody>
      </p:sp>
      <p:sp>
        <p:nvSpPr>
          <p:cNvPr id="488" name="Google Shape;488;p25"/>
          <p:cNvSpPr/>
          <p:nvPr/>
        </p:nvSpPr>
        <p:spPr>
          <a:xfrm>
            <a:off x="5911748" y="1416501"/>
            <a:ext cx="871500" cy="395100"/>
          </a:xfrm>
          <a:prstGeom prst="roundRect">
            <a:avLst>
              <a:gd fmla="val 16667" name="adj"/>
            </a:avLst>
          </a:prstGeom>
          <a:solidFill>
            <a:srgbClr val="F7F9FC"/>
          </a:solidFill>
          <a:ln cap="flat" cmpd="sng" w="5025">
            <a:solidFill>
              <a:srgbClr val="D6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175" lIns="36175" spcFirstLastPara="1" rIns="36175" wrap="square" tIns="3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39"/>
          </a:p>
        </p:txBody>
      </p:sp>
      <p:sp>
        <p:nvSpPr>
          <p:cNvPr id="489" name="Google Shape;489;p25"/>
          <p:cNvSpPr/>
          <p:nvPr/>
        </p:nvSpPr>
        <p:spPr>
          <a:xfrm>
            <a:off x="5911746" y="1416499"/>
            <a:ext cx="871500" cy="3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100" lIns="36175" spcFirstLastPara="1" rIns="36175" wrap="square" tIns="1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2">
                <a:solidFill>
                  <a:srgbClr val="3C78D8"/>
                </a:solidFill>
                <a:latin typeface="Nunito Black"/>
                <a:ea typeface="Nunito Black"/>
                <a:cs typeface="Nunito Black"/>
                <a:sym typeface="Nunito Black"/>
              </a:rPr>
              <a:t> Core </a:t>
            </a:r>
            <a:r>
              <a:rPr lang="en" sz="1002">
                <a:solidFill>
                  <a:schemeClr val="dk2"/>
                </a:solidFill>
                <a:latin typeface="Nunito Black"/>
                <a:ea typeface="Nunito Black"/>
                <a:cs typeface="Nunito Black"/>
                <a:sym typeface="Nunito Black"/>
              </a:rPr>
              <a:t>Node</a:t>
            </a:r>
            <a:endParaRPr i="0" sz="1002" u="none" cap="none" strike="noStrike">
              <a:solidFill>
                <a:srgbClr val="000000"/>
              </a:solidFill>
              <a:latin typeface="Nunito Black"/>
              <a:ea typeface="Nunito Black"/>
              <a:cs typeface="Nunito Black"/>
              <a:sym typeface="Nunito Black"/>
            </a:endParaRPr>
          </a:p>
        </p:txBody>
      </p:sp>
      <p:cxnSp>
        <p:nvCxnSpPr>
          <p:cNvPr id="490" name="Google Shape;490;p25"/>
          <p:cNvCxnSpPr>
            <a:stCxn id="489" idx="2"/>
          </p:cNvCxnSpPr>
          <p:nvPr/>
        </p:nvCxnSpPr>
        <p:spPr>
          <a:xfrm>
            <a:off x="6347496" y="1803199"/>
            <a:ext cx="18300" cy="44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1" name="Google Shape;491;p25"/>
          <p:cNvCxnSpPr>
            <a:endCxn id="466" idx="0"/>
          </p:cNvCxnSpPr>
          <p:nvPr/>
        </p:nvCxnSpPr>
        <p:spPr>
          <a:xfrm flipH="1">
            <a:off x="7118712" y="1829685"/>
            <a:ext cx="359700" cy="42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2" name="Google Shape;492;p25"/>
          <p:cNvCxnSpPr/>
          <p:nvPr/>
        </p:nvCxnSpPr>
        <p:spPr>
          <a:xfrm flipH="1">
            <a:off x="7601150" y="1838975"/>
            <a:ext cx="952500" cy="38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3" name="Google Shape;493;p25"/>
          <p:cNvCxnSpPr/>
          <p:nvPr/>
        </p:nvCxnSpPr>
        <p:spPr>
          <a:xfrm rot="10800000">
            <a:off x="7337200" y="3112225"/>
            <a:ext cx="9300" cy="612900"/>
          </a:xfrm>
          <a:prstGeom prst="straightConnector1">
            <a:avLst/>
          </a:prstGeom>
          <a:noFill/>
          <a:ln cap="flat" cmpd="sng" w="28575">
            <a:solidFill>
              <a:srgbClr val="6B728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94" name="Google Shape;494;p25"/>
          <p:cNvSpPr txBox="1"/>
          <p:nvPr/>
        </p:nvSpPr>
        <p:spPr>
          <a:xfrm>
            <a:off x="7390398" y="3136625"/>
            <a:ext cx="1651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Urbanist"/>
                <a:ea typeface="Urbanist"/>
                <a:cs typeface="Urbanist"/>
                <a:sym typeface="Urbanist"/>
              </a:rPr>
              <a:t>Global minimal hitting set</a:t>
            </a:r>
            <a:endParaRPr b="1" sz="1200"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95" name="Google Shape;495;p25"/>
          <p:cNvSpPr txBox="1"/>
          <p:nvPr/>
        </p:nvSpPr>
        <p:spPr>
          <a:xfrm>
            <a:off x="4306978" y="1920575"/>
            <a:ext cx="143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Urbanist"/>
                <a:ea typeface="Urbanist"/>
                <a:cs typeface="Urbanist"/>
                <a:sym typeface="Urbanist"/>
              </a:rPr>
              <a:t>True UCC</a:t>
            </a:r>
            <a:endParaRPr b="1" sz="1200"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496" name="Google Shape;496;p25"/>
          <p:cNvCxnSpPr/>
          <p:nvPr/>
        </p:nvCxnSpPr>
        <p:spPr>
          <a:xfrm rot="10800000">
            <a:off x="4159050" y="2404950"/>
            <a:ext cx="1263600" cy="9300"/>
          </a:xfrm>
          <a:prstGeom prst="straightConnector1">
            <a:avLst/>
          </a:prstGeom>
          <a:noFill/>
          <a:ln cap="flat" cmpd="sng" w="28575">
            <a:solidFill>
              <a:srgbClr val="6B728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97" name="Google Shape;497;p25"/>
          <p:cNvCxnSpPr/>
          <p:nvPr/>
        </p:nvCxnSpPr>
        <p:spPr>
          <a:xfrm rot="10800000">
            <a:off x="1820125" y="1867125"/>
            <a:ext cx="584700" cy="292500"/>
          </a:xfrm>
          <a:prstGeom prst="straightConnector1">
            <a:avLst/>
          </a:prstGeom>
          <a:noFill/>
          <a:ln cap="flat" cmpd="sng" w="28575">
            <a:solidFill>
              <a:srgbClr val="6B728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98" name="Google Shape;498;p25"/>
          <p:cNvCxnSpPr/>
          <p:nvPr/>
        </p:nvCxnSpPr>
        <p:spPr>
          <a:xfrm flipH="1">
            <a:off x="1581650" y="2650025"/>
            <a:ext cx="587400" cy="1200"/>
          </a:xfrm>
          <a:prstGeom prst="straightConnector1">
            <a:avLst/>
          </a:prstGeom>
          <a:noFill/>
          <a:ln cap="flat" cmpd="sng" w="28575">
            <a:solidFill>
              <a:srgbClr val="6B728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99" name="Google Shape;499;p25"/>
          <p:cNvCxnSpPr/>
          <p:nvPr/>
        </p:nvCxnSpPr>
        <p:spPr>
          <a:xfrm flipH="1">
            <a:off x="1685125" y="2904650"/>
            <a:ext cx="502800" cy="214500"/>
          </a:xfrm>
          <a:prstGeom prst="straightConnector1">
            <a:avLst/>
          </a:prstGeom>
          <a:noFill/>
          <a:ln cap="flat" cmpd="sng" w="28575">
            <a:solidFill>
              <a:srgbClr val="6B728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00" name="Google Shape;500;p25"/>
          <p:cNvCxnSpPr/>
          <p:nvPr/>
        </p:nvCxnSpPr>
        <p:spPr>
          <a:xfrm flipH="1">
            <a:off x="1810800" y="3159275"/>
            <a:ext cx="462000" cy="660300"/>
          </a:xfrm>
          <a:prstGeom prst="straightConnector1">
            <a:avLst/>
          </a:prstGeom>
          <a:noFill/>
          <a:ln cap="flat" cmpd="sng" w="28575">
            <a:solidFill>
              <a:srgbClr val="6B728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26"/>
          <p:cNvSpPr txBox="1"/>
          <p:nvPr>
            <p:ph type="title"/>
          </p:nvPr>
        </p:nvSpPr>
        <p:spPr>
          <a:xfrm>
            <a:off x="1303800" y="74712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26"/>
          <p:cNvSpPr txBox="1"/>
          <p:nvPr>
            <p:ph idx="1" type="body"/>
          </p:nvPr>
        </p:nvSpPr>
        <p:spPr>
          <a:xfrm>
            <a:off x="1303800" y="2396975"/>
            <a:ext cx="7030500" cy="12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3000">
                <a:solidFill>
                  <a:srgbClr val="E69138"/>
                </a:solidFill>
              </a:rPr>
              <a:t>Questions?</a:t>
            </a:r>
            <a:endParaRPr sz="3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5" name="Google Shape;515;p28"/>
          <p:cNvGraphicFramePr/>
          <p:nvPr/>
        </p:nvGraphicFramePr>
        <p:xfrm>
          <a:off x="56615" y="51970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{98A87781-F135-4FED-B73E-D678BC358122}</a:tableStyleId>
              </a:tblPr>
              <a:tblGrid>
                <a:gridCol w="1934000"/>
                <a:gridCol w="2272475"/>
                <a:gridCol w="2127350"/>
                <a:gridCol w="2659250"/>
              </a:tblGrid>
              <a:tr h="483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" sz="15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Category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" sz="15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Main Idea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" sz="15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Strength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" sz="15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Limitation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</a:tr>
              <a:tr h="955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500" u="none" cap="none" strike="noStrike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Centralized UCC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Search &amp; prune column lattice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Effective for single datasets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5309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500" u="none" cap="none" strike="noStrike">
                          <a:solidFill>
                            <a:srgbClr val="B4530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Assumes all data is central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55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500" u="none" cap="none" strike="noStrike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Hitting Set Methods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 UCCs as minimal hitting sets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Strong theoretical basis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5309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500" u="none" cap="none" strike="noStrike">
                          <a:solidFill>
                            <a:srgbClr val="B4530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Can still be computationally expensive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55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500" u="none" cap="none" strike="noStrike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Parallel / Scalable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Parallelise candidate evaluation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Better runtime at large scale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5309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500" u="none" cap="none" strike="noStrike">
                          <a:solidFill>
                            <a:srgbClr val="B4530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Often still assumes shared / co-located data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55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500" u="none" cap="none" strike="noStrike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Federated Profiling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Keep data distributed; share metadata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ownership &amp; privacy respected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5309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500" u="none" cap="none" strike="noStrike">
                          <a:solidFill>
                            <a:srgbClr val="B4530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Global UCC correctness &amp; comm. cost unsolved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